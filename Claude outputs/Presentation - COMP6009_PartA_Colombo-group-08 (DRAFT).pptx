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Greedy</c:v>
                </c:pt>
              </c:strCache>
            </c:strRef>
          </c:tx>
          <c:spPr>
            <a:solidFill>
              <a:srgbClr val="A6A6A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Sheet1!$A$2:$A$25</c:f>
              <c:multiLvlStrCache>
                <c:ptCount val="2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lvl>
              </c:multiLvlStrCache>
            </c:multiLvlStrRef>
          </c:cat>
          <c:val>
            <c:numRef>
              <c:f>Sheet1!$B$2:$B$25</c:f>
              <c:numCache>
                <c:formatCode>General</c:formatCode>
                <c:ptCount val="24"/>
                <c:pt idx="0">
                  <c:v>0</c:v>
                </c:pt>
                <c:pt idx="1">
                  <c:v>0</c:v>
                </c:pt>
                <c:pt idx="2">
                  <c:v>0</c:v>
                </c:pt>
                <c:pt idx="3">
                  <c:v>100</c:v>
                </c:pt>
                <c:pt idx="4">
                  <c:v>100</c:v>
                </c:pt>
                <c:pt idx="5">
                  <c:v>100</c:v>
                </c:pt>
                <c:pt idx="6">
                  <c:v>60</c:v>
                </c:pt>
                <c:pt idx="7">
                  <c:v>60</c:v>
                </c:pt>
                <c:pt idx="8">
                  <c:v>100</c:v>
                </c:pt>
                <c:pt idx="9">
                  <c:v>100</c:v>
                </c:pt>
                <c:pt idx="10">
                  <c:v>80</c:v>
                </c:pt>
                <c:pt idx="11">
                  <c:v>80</c:v>
                </c:pt>
                <c:pt idx="12">
                  <c:v>100</c:v>
                </c:pt>
                <c:pt idx="13">
                  <c:v>100</c:v>
                </c:pt>
                <c:pt idx="14">
                  <c:v>75</c:v>
                </c:pt>
                <c:pt idx="15">
                  <c:v>0</c:v>
                </c:pt>
                <c:pt idx="16">
                  <c:v>0</c:v>
                </c:pt>
                <c:pt idx="17">
                  <c:v>0</c:v>
                </c:pt>
                <c:pt idx="18">
                  <c:v>0</c:v>
                </c:pt>
                <c:pt idx="19">
                  <c:v>0</c:v>
                </c:pt>
                <c:pt idx="20">
                  <c:v>0</c:v>
                </c:pt>
                <c:pt idx="21">
                  <c:v>0</c:v>
                </c:pt>
                <c:pt idx="22">
                  <c:v>0</c:v>
                </c:pt>
                <c:pt idx="23">
                  <c:v>0</c:v>
                </c:pt>
              </c:numCache>
            </c:numRef>
          </c:val>
        </c:ser>
        <c:ser>
          <c:idx val="1"/>
          <c:order val="1"/>
          <c:tx>
            <c:strRef>
              <c:f>Sheet1!$C$1</c:f>
              <c:strCache>
                <c:ptCount val="1"/>
                <c:pt idx="0">
                  <c:v>Genetic algorithm</c:v>
                </c:pt>
              </c:strCache>
            </c:strRef>
          </c:tx>
          <c:spPr>
            <a:solidFill>
              <a:srgbClr val="5F5E5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Sheet1!$A$2:$A$25</c:f>
              <c:multiLvlStrCache>
                <c:ptCount val="2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lvl>
              </c:multiLvlStrCache>
            </c:multiLvlStrRef>
          </c:cat>
          <c:val>
            <c:numRef>
              <c:f>Sheet1!$C$2:$C$25</c:f>
              <c:numCache>
                <c:formatCode>General</c:formatCode>
                <c:ptCount val="24"/>
                <c:pt idx="0">
                  <c:v>100</c:v>
                </c:pt>
                <c:pt idx="1">
                  <c:v>100</c:v>
                </c:pt>
                <c:pt idx="2">
                  <c:v>80</c:v>
                </c:pt>
                <c:pt idx="3">
                  <c:v>100</c:v>
                </c:pt>
                <c:pt idx="4">
                  <c:v>100</c:v>
                </c:pt>
                <c:pt idx="5">
                  <c:v>80</c:v>
                </c:pt>
                <c:pt idx="6">
                  <c:v>80</c:v>
                </c:pt>
                <c:pt idx="7">
                  <c:v>100</c:v>
                </c:pt>
                <c:pt idx="8">
                  <c:v>100</c:v>
                </c:pt>
                <c:pt idx="9">
                  <c:v>80</c:v>
                </c:pt>
                <c:pt idx="10">
                  <c:v>100</c:v>
                </c:pt>
                <c:pt idx="11">
                  <c:v>100</c:v>
                </c:pt>
                <c:pt idx="12">
                  <c:v>60</c:v>
                </c:pt>
                <c:pt idx="13">
                  <c:v>100</c:v>
                </c:pt>
                <c:pt idx="14">
                  <c:v>100</c:v>
                </c:pt>
                <c:pt idx="15">
                  <c:v>60</c:v>
                </c:pt>
                <c:pt idx="16">
                  <c:v>100</c:v>
                </c:pt>
                <c:pt idx="17">
                  <c:v>40</c:v>
                </c:pt>
                <c:pt idx="18">
                  <c:v>100</c:v>
                </c:pt>
                <c:pt idx="19">
                  <c:v>80</c:v>
                </c:pt>
                <c:pt idx="20">
                  <c:v>40</c:v>
                </c:pt>
                <c:pt idx="21">
                  <c:v>60</c:v>
                </c:pt>
                <c:pt idx="22">
                  <c:v>80</c:v>
                </c:pt>
                <c:pt idx="23">
                  <c:v>40</c:v>
                </c:pt>
              </c:numCache>
            </c:numRef>
          </c:val>
        </c:ser>
        <c:ser>
          <c:idx val="2"/>
          <c:order val="2"/>
          <c:tx>
            <c:strRef>
              <c:f>Sheet1!$D$1</c:f>
              <c:strCache>
                <c:ptCount val="1"/>
                <c:pt idx="0">
                  <c:v>A* (ours)</c:v>
                </c:pt>
              </c:strCache>
            </c:strRef>
          </c:tx>
          <c:spPr>
            <a:solidFill>
              <a:srgbClr val="B01B2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Sheet1!$A$2:$A$25</c:f>
              <c:multiLvlStrCache>
                <c:ptCount val="2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lvl>
              </c:multiLvlStrCache>
            </c:multiLvlStrRef>
          </c:cat>
          <c:val>
            <c:numRef>
              <c:f>Sheet1!$D$2:$D$25</c:f>
              <c:numCache>
                <c:formatCode>General</c:formatCode>
                <c:ptCount val="24"/>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E6C68"/>
                    </a:solidFill>
                    <a:latin typeface="Arial"/>
                  </a:defRPr>
                </a:pPr>
                <a:r>
                  <a:rPr sz="1000" b="0" i="0" u="none" strike="noStrike">
                    <a:solidFill>
                      <a:srgbClr val="6E6C68"/>
                    </a:solidFill>
                    <a:latin typeface="Arial"/>
                  </a:rPr>
                  <a:t>Level</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C68"/>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6E5E0"/>
              </a:solidFill>
              <a:prstDash val="solid"/>
              <a:round/>
            </a:ln>
          </c:spPr>
        </c:majorGridlines>
        <c:title>
          <c:tx>
            <c:rich>
              <a:bodyPr/>
              <a:lstStyle/>
              <a:p>
                <a:pPr>
                  <a:defRPr sz="1000" b="0" i="0" u="none" strike="noStrike">
                    <a:solidFill>
                      <a:srgbClr val="6E6C68"/>
                    </a:solidFill>
                    <a:latin typeface="Arial"/>
                  </a:defRPr>
                </a:pPr>
                <a:r>
                  <a:rPr sz="1000" b="0" i="0" u="none" strike="noStrike">
                    <a:solidFill>
                      <a:srgbClr val="6E6C68"/>
                    </a:solidFill>
                    <a:latin typeface="Arial"/>
                  </a:rPr>
                  <a:t>Success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C68"/>
                </a:solidFill>
                <a:latin typeface="+mn-lt"/>
              </a:defRPr>
            </a:pPr>
            <a:endParaRPr lang="en-US"/>
          </a:p>
        </c:txPr>
        <c:crossAx val="2094734554"/>
        <c:crosses val="autoZero"/>
        <c:crossBetween val="between"/>
        <c:majorUnit val="20"/>
      </c:valAx>
      <c:spPr>
        <a:noFill/>
        <a:ln>
          <a:noFill/>
        </a:ln>
        <a:effectLst/>
      </c:spPr>
    </c:plotArea>
    <c:legend>
      <c:legendPos val="t"/>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Greedy</c:v>
                </c:pt>
              </c:strCache>
            </c:strRef>
          </c:tx>
          <c:spPr>
            <a:solidFill>
              <a:srgbClr val="A6A6A6"/>
            </a:solidFill>
            <a:ln w="25400"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A6A6A6"/>
              </a:solidFill>
              <a:ln w="9525" cap="flat">
                <a:solidFill>
                  <a:srgbClr val="A6A6A6"/>
                </a:solidFill>
                <a:prstDash val="solid"/>
                <a:round/>
              </a:ln>
              <a:effectLst/>
            </c:spPr>
          </c:marker>
          <c:cat>
            <c:multiLvlStrRef>
              <c:f>Sheet1!$A$2:$A$25</c:f>
              <c:multiLvlStrCache>
                <c:ptCount val="2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lvl>
              </c:multiLvlStrCache>
            </c:multiLvlStrRef>
          </c:cat>
          <c:val>
            <c:numRef>
              <c:f>Sheet1!$B$2:$B$25</c:f>
              <c:numCache>
                <c:formatCode>General</c:formatCode>
                <c:ptCount val="24"/>
                <c:pt idx="0">
                  <c:v/>
                </c:pt>
                <c:pt idx="1">
                  <c:v/>
                </c:pt>
                <c:pt idx="2">
                  <c:v/>
                </c:pt>
                <c:pt idx="3">
                  <c:v>4.65</c:v>
                </c:pt>
                <c:pt idx="4">
                  <c:v>5.87</c:v>
                </c:pt>
                <c:pt idx="5">
                  <c:v>4.75</c:v>
                </c:pt>
                <c:pt idx="6">
                  <c:v>4.37</c:v>
                </c:pt>
                <c:pt idx="7">
                  <c:v>5.76</c:v>
                </c:pt>
                <c:pt idx="8">
                  <c:v>4.78</c:v>
                </c:pt>
                <c:pt idx="9">
                  <c:v>6.33</c:v>
                </c:pt>
                <c:pt idx="10">
                  <c:v>6.82</c:v>
                </c:pt>
                <c:pt idx="11">
                  <c:v>4.68</c:v>
                </c:pt>
                <c:pt idx="12">
                  <c:v>3.93</c:v>
                </c:pt>
                <c:pt idx="13">
                  <c:v>5.93</c:v>
                </c:pt>
                <c:pt idx="14">
                  <c:v>6.76</c:v>
                </c:pt>
                <c:pt idx="15">
                  <c:v/>
                </c:pt>
                <c:pt idx="16">
                  <c:v/>
                </c:pt>
                <c:pt idx="17">
                  <c:v/>
                </c:pt>
                <c:pt idx="18">
                  <c:v/>
                </c:pt>
                <c:pt idx="19">
                  <c:v/>
                </c:pt>
                <c:pt idx="20">
                  <c:v/>
                </c:pt>
                <c:pt idx="21">
                  <c:v/>
                </c:pt>
                <c:pt idx="22">
                  <c:v/>
                </c:pt>
                <c:pt idx="23">
                  <c:v/>
                </c:pt>
              </c:numCache>
            </c:numRef>
          </c:val>
          <c:smooth val="0"/>
        </c:ser>
        <c:ser>
          <c:idx val="1"/>
          <c:order val="1"/>
          <c:tx>
            <c:strRef>
              <c:f>Sheet1!$C$1</c:f>
              <c:strCache>
                <c:ptCount val="1"/>
                <c:pt idx="0">
                  <c:v>Genetic algorithm</c:v>
                </c:pt>
              </c:strCache>
            </c:strRef>
          </c:tx>
          <c:spPr>
            <a:solidFill>
              <a:srgbClr val="5F5E5A"/>
            </a:solidFill>
            <a:ln w="25400" cap="flat">
              <a:solidFill>
                <a:srgbClr val="5F5E5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5F5E5A"/>
              </a:solidFill>
              <a:ln w="9525" cap="flat">
                <a:solidFill>
                  <a:srgbClr val="5F5E5A"/>
                </a:solidFill>
                <a:prstDash val="solid"/>
                <a:round/>
              </a:ln>
              <a:effectLst/>
            </c:spPr>
          </c:marker>
          <c:cat>
            <c:multiLvlStrRef>
              <c:f>Sheet1!$A$2:$A$25</c:f>
              <c:multiLvlStrCache>
                <c:ptCount val="2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lvl>
              </c:multiLvlStrCache>
            </c:multiLvlStrRef>
          </c:cat>
          <c:val>
            <c:numRef>
              <c:f>Sheet1!$C$2:$C$25</c:f>
              <c:numCache>
                <c:formatCode>General</c:formatCode>
                <c:ptCount val="24"/>
                <c:pt idx="0">
                  <c:v>3.42</c:v>
                </c:pt>
                <c:pt idx="1">
                  <c:v>4.89</c:v>
                </c:pt>
                <c:pt idx="2">
                  <c:v>8.7</c:v>
                </c:pt>
                <c:pt idx="3">
                  <c:v>6.9</c:v>
                </c:pt>
                <c:pt idx="4">
                  <c:v>9.17</c:v>
                </c:pt>
                <c:pt idx="5">
                  <c:v>12.1</c:v>
                </c:pt>
                <c:pt idx="6">
                  <c:v>8.82</c:v>
                </c:pt>
                <c:pt idx="7">
                  <c:v>14.47</c:v>
                </c:pt>
                <c:pt idx="8">
                  <c:v>11.78</c:v>
                </c:pt>
                <c:pt idx="9">
                  <c:v>10.74</c:v>
                </c:pt>
                <c:pt idx="10">
                  <c:v>12.91</c:v>
                </c:pt>
                <c:pt idx="11">
                  <c:v>9.23</c:v>
                </c:pt>
                <c:pt idx="12">
                  <c:v>10.55</c:v>
                </c:pt>
                <c:pt idx="13">
                  <c:v>8.81</c:v>
                </c:pt>
                <c:pt idx="14">
                  <c:v>14.68</c:v>
                </c:pt>
                <c:pt idx="15">
                  <c:v>12.65</c:v>
                </c:pt>
                <c:pt idx="16">
                  <c:v>8.55</c:v>
                </c:pt>
                <c:pt idx="17">
                  <c:v>15.01</c:v>
                </c:pt>
                <c:pt idx="18">
                  <c:v>14.67</c:v>
                </c:pt>
                <c:pt idx="19">
                  <c:v>18.25</c:v>
                </c:pt>
                <c:pt idx="20">
                  <c:v>16.32</c:v>
                </c:pt>
                <c:pt idx="21">
                  <c:v>24.36</c:v>
                </c:pt>
                <c:pt idx="22">
                  <c:v>15.47</c:v>
                </c:pt>
                <c:pt idx="23">
                  <c:v>21.54</c:v>
                </c:pt>
              </c:numCache>
            </c:numRef>
          </c:val>
          <c:smooth val="0"/>
        </c:ser>
        <c:ser>
          <c:idx val="2"/>
          <c:order val="2"/>
          <c:tx>
            <c:strRef>
              <c:f>Sheet1!$D$1</c:f>
              <c:strCache>
                <c:ptCount val="1"/>
                <c:pt idx="0">
                  <c:v>A* (ours)</c:v>
                </c:pt>
              </c:strCache>
            </c:strRef>
          </c:tx>
          <c:spPr>
            <a:solidFill>
              <a:srgbClr val="B01B2E"/>
            </a:solidFill>
            <a:ln w="25400" cap="flat">
              <a:solidFill>
                <a:srgbClr val="B01B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01B2E"/>
              </a:solidFill>
              <a:ln w="9525" cap="flat">
                <a:solidFill>
                  <a:srgbClr val="B01B2E"/>
                </a:solidFill>
                <a:prstDash val="solid"/>
                <a:round/>
              </a:ln>
              <a:effectLst/>
            </c:spPr>
          </c:marker>
          <c:cat>
            <c:multiLvlStrRef>
              <c:f>Sheet1!$A$2:$A$25</c:f>
              <c:multiLvlStrCache>
                <c:ptCount val="2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lvl>
              </c:multiLvlStrCache>
            </c:multiLvlStrRef>
          </c:cat>
          <c:val>
            <c:numRef>
              <c:f>Sheet1!$D$2:$D$25</c:f>
              <c:numCache>
                <c:formatCode>General</c:formatCode>
                <c:ptCount val="24"/>
                <c:pt idx="0">
                  <c:v>1.92</c:v>
                </c:pt>
                <c:pt idx="1">
                  <c:v>2.69</c:v>
                </c:pt>
                <c:pt idx="2">
                  <c:v>3.36</c:v>
                </c:pt>
                <c:pt idx="3">
                  <c:v>3.47</c:v>
                </c:pt>
                <c:pt idx="4">
                  <c:v>4.2</c:v>
                </c:pt>
                <c:pt idx="5">
                  <c:v>3.69</c:v>
                </c:pt>
                <c:pt idx="6">
                  <c:v>3.79</c:v>
                </c:pt>
                <c:pt idx="7">
                  <c:v>4.33</c:v>
                </c:pt>
                <c:pt idx="8">
                  <c:v>4.12</c:v>
                </c:pt>
                <c:pt idx="9">
                  <c:v>4.9</c:v>
                </c:pt>
                <c:pt idx="10">
                  <c:v>4.46</c:v>
                </c:pt>
                <c:pt idx="11">
                  <c:v>4.68</c:v>
                </c:pt>
                <c:pt idx="12">
                  <c:v>4.93</c:v>
                </c:pt>
                <c:pt idx="13">
                  <c:v>4.21</c:v>
                </c:pt>
                <c:pt idx="14">
                  <c:v>6.18</c:v>
                </c:pt>
                <c:pt idx="15">
                  <c:v>5.73</c:v>
                </c:pt>
                <c:pt idx="16">
                  <c:v>2.73</c:v>
                </c:pt>
                <c:pt idx="17">
                  <c:v>6.05</c:v>
                </c:pt>
                <c:pt idx="18">
                  <c:v>4</c:v>
                </c:pt>
                <c:pt idx="19">
                  <c:v>4.75</c:v>
                </c:pt>
                <c:pt idx="20">
                  <c:v>6.36</c:v>
                </c:pt>
                <c:pt idx="21">
                  <c:v>6.01</c:v>
                </c:pt>
                <c:pt idx="22">
                  <c:v>6.19</c:v>
                </c:pt>
                <c:pt idx="23">
                  <c:v>7.61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6E6C68"/>
                    </a:solidFill>
                    <a:latin typeface="Arial"/>
                  </a:defRPr>
                </a:pPr>
                <a:r>
                  <a:rPr sz="1000" b="0" i="0" u="none" strike="noStrike">
                    <a:solidFill>
                      <a:srgbClr val="6E6C68"/>
                    </a:solidFill>
                    <a:latin typeface="Arial"/>
                  </a:rPr>
                  <a:t>Level</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C68"/>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5E0"/>
              </a:solidFill>
              <a:prstDash val="solid"/>
              <a:round/>
            </a:ln>
          </c:spPr>
        </c:majorGridlines>
        <c:title>
          <c:tx>
            <c:rich>
              <a:bodyPr/>
              <a:lstStyle/>
              <a:p>
                <a:pPr>
                  <a:defRPr sz="1000" b="0" i="0" u="none" strike="noStrike">
                    <a:solidFill>
                      <a:srgbClr val="6E6C68"/>
                    </a:solidFill>
                    <a:latin typeface="Arial"/>
                  </a:defRPr>
                </a:pPr>
                <a:r>
                  <a:rPr sz="1000" b="0" i="0" u="none" strike="noStrike">
                    <a:solidFill>
                      <a:srgbClr val="6E6C68"/>
                    </a:solidFill>
                    <a:latin typeface="Arial"/>
                  </a:rPr>
                  <a:t>Seconds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C6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Pavithra (about 30 s). Hi, we are Colombo-group-08. Our task was to take the greedy agent that plays CoinTex, find out why it fails, and replace it with a better search method. We built a danger-aware A* agent and tested it against the original greedy agent and a genetic algorithm on all 24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Pavithra (about 50 s). The greedy agent measures Manhattan distance to every coin, builds a nearest-neighbour route and then jumps through the whole route, one jump every 0.4 seconds, without checking anything. Monsters and fires are only used to skip coins that are already close to them. So the jumps themselves can pass right through a monster, and the plan goes out of date while the monsters move. We also found bugs: the start point is always the corner, the coin filter deletes from the list it is looping over, and the thread keeps running after the character 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Pavithra (about 40 s). Two details changed how we thought about the problem. First, every jump takes 0.25 seconds no matter how far it goes, so time depends on how many jumps you make, and minimising distance like the greedy agent does saves no time. Second, damage is counted per frame of contact, so a quick pass near a hazard is survivable but lingering is not. That means timing matters as much as position. Ravindu will now explain our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Ravindu (about 50 s). Our agent runs this loop once per jump. It reads the positions, predicts where each monster and fire will be over the next 0.6 seconds, and turns that into a danger map on a 40 by 40 grid. Then A* finds the cheapest path to any coin, where a step through a dangerous cell costs much more than a safe step. The guess A* uses is the straight-line distance to the nearest coin, which never overestimates, so the path it finds is the cheapest. Each decision takes about 6.7 milliseconds on our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Ravindu (about 45 s). This is a real snapshot from level 22. The dark red is the danger map. The blue line is the path A* found around it. But following the path cell by cell would be slow, because every jump costs 0.25 seconds. So the agent looks for the longest straight jump it can make along the path, and checks it in space and time: for every point on the line it works out when the character will be there and where the hazards will be at that moment. Here the jump crosses an area that looks dangerous on the map, but the check shows the hazards will have moved by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Ravindu (about 35 s). This table sums up what is new. The key differences are that hazards are part of the cost of every cell instead of just a filter on coins, the agent re-plans every jump from where it actually is, and it only makes jumps that are safe at the time it makes them. Rashmika will show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Rashmika (about 50 s). We ran every agent 5 times on every level, 360 episodes in total in the real game. Our A* agent won 120 of 120 runs, greedy won 52 and the GA won 99. To compare time fairly we only used levels that all three agents won at least once, and there A* averaged 4.41 seconds, against 5.39 for greedy and 10.85 for the GA. We also proposed a new metric, RACR, which multiplies the coin collection rate by the life left, so it rewards speed and safety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Rashmika (about 40 s). This chart shows success on each level. Grey is greedy, dark grey is the GA and red is our agent. Greedy loses most on levels 7, 8 and 15, and the GA on levels 18, 21 and 24. Every one of their failures was a death: their jumps cross hazards because they never check the path. Our agent won 120 out of 120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Rashmika (about 40 s). Our agent is also faster. On the levels every agent could win, it averaged 4.41 seconds against 5.39 for greedy and 10.85 for the GA. To be fair, part of this comes from the original greedy code waiting 0.4 seconds after every jump, which we kept as given. The GA is slow because it always chases the first coin in the list and needs about 33 jumps per level. Our agent stays safe while doing this, with almost no hazard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Rashmika, then Pavithra to close (about 45 s). The main idea we would try next is a hybrid. The GA would decide the order of the coins, and A* would plan the safe path between them, with the A* path costs used as the GA's fitness. That keeps the safety of A* and fixes the cases where our agent leaves one coin stranded far away. We would also use a GA to tune our settings, which we picked by hand. Our main limitations are that everything ran on one laptop, with 5 runs per level.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566928"/>
          </a:xfrm>
          <a:prstGeom prst="rect">
            <a:avLst/>
          </a:prstGeom>
          <a:noFill/>
          <a:ln/>
        </p:spPr>
        <p:txBody>
          <a:bodyPr wrap="square" rtlCol="0"/>
          <a:lstStyle>
            <a:lvl1pPr algn="l" indent="0" marL="0">
              <a:buNone/>
              <a:defRPr lang="en-US" sz="2600" b="1" dirty="0">
                <a:solidFill>
                  <a:srgbClr val="1A1A1A"/>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3" name="Text 0"/>
          <p:cNvSpPr/>
          <p:nvPr>
            <p:ph idx="101" type="body" hasCustomPrompt="1"/>
          </p:nvPr>
        </p:nvSpPr>
        <p:spPr>
          <a:xfrm>
            <a:off x="640080" y="969264"/>
            <a:ext cx="10881360" cy="365760"/>
          </a:xfrm>
          <a:prstGeom prst="rect">
            <a:avLst/>
          </a:prstGeom>
          <a:noFill/>
          <a:ln/>
        </p:spPr>
        <p:txBody>
          <a:bodyPr wrap="square" rtlCol="0"/>
          <a:lstStyle>
            <a:lvl1pPr algn="l" indent="0" marL="0">
              <a:buNone/>
              <a:defRPr lang="en-US" sz="1300" dirty="0">
                <a:solidFill>
                  <a:srgbClr val="6E6C68"/>
                </a:solidFill>
                <a:latin typeface="Arial" pitchFamily="34" charset="0"/>
                <a:ea typeface="Arial" pitchFamily="34" charset="-122"/>
                <a:cs typeface="Arial" pitchFamily="34" charset="-120"/>
              </a:defRPr>
            </a:lvl1pPr>
          </a:lstStyle>
          <a:p>
            <a:pPr algn="l" indent="0" marL="0">
              <a:buNone/>
            </a:pP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2103120"/>
            <a:ext cx="10698480" cy="914400"/>
          </a:xfrm>
          <a:prstGeom prst="rect">
            <a:avLst/>
          </a:prstGeom>
          <a:noFill/>
          <a:ln/>
        </p:spPr>
        <p:txBody>
          <a:bodyPr wrap="square" lIns="0" tIns="0" rIns="0" bIns="0" rtlCol="0" anchor="ctr"/>
          <a:lstStyle/>
          <a:p>
            <a:pPr indent="0" marL="0">
              <a:buNone/>
            </a:pPr>
            <a:r>
              <a:rPr lang="en-US" sz="3800" b="1" dirty="0">
                <a:solidFill>
                  <a:srgbClr val="1A1A1A"/>
                </a:solidFill>
                <a:latin typeface="Arial" pitchFamily="34" charset="0"/>
                <a:ea typeface="Arial" pitchFamily="34" charset="-122"/>
                <a:cs typeface="Arial" pitchFamily="34" charset="-120"/>
              </a:rPr>
              <a:t>A Danger-Aware A* Agent for CoinTex</a:t>
            </a:r>
            <a:endParaRPr lang="en-US" sz="3800" dirty="0"/>
          </a:p>
        </p:txBody>
      </p:sp>
      <p:sp>
        <p:nvSpPr>
          <p:cNvPr id="3" name="Text 1"/>
          <p:cNvSpPr txBox="1"/>
          <p:nvPr/>
        </p:nvSpPr>
        <p:spPr>
          <a:xfrm>
            <a:off x="731520" y="2971800"/>
            <a:ext cx="10698480" cy="457200"/>
          </a:xfrm>
          <a:prstGeom prst="rect">
            <a:avLst/>
          </a:prstGeom>
          <a:noFill/>
          <a:ln/>
        </p:spPr>
        <p:txBody>
          <a:bodyPr wrap="square" lIns="0" tIns="0" rIns="0" bIns="0" rtlCol="0" anchor="ctr"/>
          <a:lstStyle/>
          <a:p>
            <a:pPr indent="0" marL="0">
              <a:buNone/>
            </a:pPr>
            <a:r>
              <a:rPr lang="en-US" sz="1800" dirty="0">
                <a:solidFill>
                  <a:srgbClr val="B01B2E"/>
                </a:solidFill>
                <a:latin typeface="Arial" pitchFamily="34" charset="0"/>
                <a:ea typeface="Arial" pitchFamily="34" charset="-122"/>
                <a:cs typeface="Arial" pitchFamily="34" charset="-120"/>
              </a:rPr>
              <a:t>COMP6009 Assignment Part A</a:t>
            </a:r>
            <a:endParaRPr lang="en-US" sz="1800" dirty="0"/>
          </a:p>
        </p:txBody>
      </p:sp>
      <p:sp>
        <p:nvSpPr>
          <p:cNvPr id="4" name="Text 2"/>
          <p:cNvSpPr txBox="1"/>
          <p:nvPr/>
        </p:nvSpPr>
        <p:spPr>
          <a:xfrm>
            <a:off x="731520" y="3419856"/>
            <a:ext cx="10698480" cy="365760"/>
          </a:xfrm>
          <a:prstGeom prst="rect">
            <a:avLst/>
          </a:prstGeom>
          <a:noFill/>
          <a:ln/>
        </p:spPr>
        <p:txBody>
          <a:bodyPr wrap="square" lIns="0" tIns="0" rIns="0" bIns="0" rtlCol="0" anchor="ctr"/>
          <a:lstStyle/>
          <a:p>
            <a:pPr indent="0" marL="0">
              <a:buNone/>
            </a:pPr>
            <a:r>
              <a:rPr lang="en-US" sz="1200" b="1" dirty="0">
                <a:solidFill>
                  <a:srgbClr val="6E6C68"/>
                </a:solidFill>
                <a:latin typeface="Arial" pitchFamily="34" charset="0"/>
                <a:ea typeface="Arial" pitchFamily="34" charset="-122"/>
                <a:cs typeface="Arial" pitchFamily="34" charset="-120"/>
              </a:rPr>
              <a:t>Colombo-group-08: </a:t>
            </a:r>
            <a:pPr indent="0" marL="0">
              <a:buNone/>
            </a:pPr>
            <a:r>
              <a:rPr lang="en-US" sz="1200" dirty="0">
                <a:solidFill>
                  <a:srgbClr val="6E6C68"/>
                </a:solidFill>
                <a:latin typeface="Arial" pitchFamily="34" charset="0"/>
                <a:ea typeface="Arial" pitchFamily="34" charset="-122"/>
                <a:cs typeface="Arial" pitchFamily="34" charset="-120"/>
              </a:rPr>
              <a:t>Pavithra Solomons (24079123), Ravindu Chandrasekara (24100201), Rashmika Dilshan (20543909)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The greedy agent plays with its eyes closed</a:t>
            </a:r>
            <a:endParaRPr lang="en-US" sz="2600" dirty="0"/>
          </a:p>
        </p:txBody>
      </p:sp>
      <p:sp>
        <p:nvSpPr>
          <p:cNvPr id="3" name="Text 0"/>
          <p:cNvSpPr/>
          <p:nvPr>
            <p:ph idx="101" type="body" hasCustomPrompt="1"/>
          </p:nvPr>
        </p:nvSpPr>
        <p:spPr>
          <a:xfrm>
            <a:off x="640080" y="969264"/>
            <a:ext cx="10881360" cy="365760"/>
          </a:xfrm>
          <a:prstGeom prst="rect">
            <a:avLst/>
          </a:prstGeom>
          <a:noFill/>
          <a:ln/>
        </p:spPr>
        <p:txBody>
          <a:bodyPr wrap="square" lIns="0" tIns="0" rIns="0" bIns="0" rtlCol="0" anchor="ctr"/>
          <a:lstStyle/>
          <a:p>
            <a:pPr algn="l" indent="0" marL="0">
              <a:buNone/>
            </a:pPr>
            <a:r>
              <a:rPr lang="en-US" sz="1300" dirty="0">
                <a:solidFill>
                  <a:srgbClr val="6E6C68"/>
                </a:solidFill>
                <a:latin typeface="Arial" pitchFamily="34" charset="0"/>
                <a:ea typeface="Arial" pitchFamily="34" charset="-122"/>
                <a:cs typeface="Arial" pitchFamily="34" charset="-120"/>
              </a:rPr>
              <a:t>main_work_greedy.py: nearest coin first, then jump through the whole route without looking</a:t>
            </a:r>
            <a:endParaRPr lang="en-US" sz="1300" dirty="0"/>
          </a:p>
        </p:txBody>
      </p:sp>
      <p:pic>
        <p:nvPicPr>
          <p:cNvPr id="4" name="Image 0" descr="/home/claude/partA/report/fig_greedy_flow.png">    </p:cNvPr>
          <p:cNvPicPr>
            <a:picLocks noChangeAspect="1"/>
          </p:cNvPicPr>
          <p:nvPr/>
        </p:nvPicPr>
        <p:blipFill>
          <a:blip r:embed="rId1"/>
          <a:stretch>
            <a:fillRect/>
          </a:stretch>
        </p:blipFill>
        <p:spPr>
          <a:xfrm>
            <a:off x="640080" y="1508760"/>
            <a:ext cx="3638260" cy="4754880"/>
          </a:xfrm>
          <a:prstGeom prst="rect">
            <a:avLst/>
          </a:prstGeom>
        </p:spPr>
      </p:pic>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0" y="1554480"/>
          <a:ext cx="6949440" cy="914400"/>
        </p:xfrm>
        <a:graphic>
          <a:graphicData uri="http://schemas.openxmlformats.org/drawingml/2006/table">
            <a:tbl>
              <a:tblPr/>
              <a:tblGrid>
                <a:gridCol w="2651760"/>
                <a:gridCol w="4297680"/>
              </a:tblGrid>
              <a:tr h="566928">
                <a:tc>
                  <a:txBody>
                    <a:bodyPr/>
                    <a:lstStyle/>
                    <a:p>
                      <a:pPr indent="0" marL="0">
                        <a:buNone/>
                      </a:pPr>
                      <a:r>
                        <a:rPr lang="en-US" sz="1300" b="1" dirty="0">
                          <a:solidFill>
                            <a:srgbClr val="FFFFFF"/>
                          </a:solidFill>
                          <a:latin typeface="Arial" pitchFamily="34" charset="0"/>
                          <a:ea typeface="Arial" pitchFamily="34" charset="-122"/>
                          <a:cs typeface="Arial" pitchFamily="34" charset="-120"/>
                        </a:rPr>
                        <a:t>Problem</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solidFill>
                      <a:srgbClr val="B01B2E"/>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What happens in the game</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solidFill>
                      <a:srgbClr val="B01B2E"/>
                    </a:solidFill>
                  </a:tcPr>
                </a:tc>
              </a:tr>
              <a:tr h="566928">
                <a:tc>
                  <a:txBody>
                    <a:bodyPr/>
                    <a:lstStyle/>
                    <a:p>
                      <a:pPr indent="0" marL="0">
                        <a:buNone/>
                      </a:pPr>
                      <a:r>
                        <a:rPr lang="en-US" sz="1300" dirty="0">
                          <a:solidFill>
                            <a:srgbClr val="1A1A1A"/>
                          </a:solidFill>
                          <a:latin typeface="Arial" pitchFamily="34" charset="0"/>
                          <a:ea typeface="Arial" pitchFamily="34" charset="-122"/>
                          <a:cs typeface="Arial" pitchFamily="34" charset="-120"/>
                        </a:rPr>
                        <a:t>Hazards only checked when planning</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Jumps between coins can go straight through a monster or fire</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r h="566928">
                <a:tc>
                  <a:txBody>
                    <a:bodyPr/>
                    <a:lstStyle/>
                    <a:p>
                      <a:pPr indent="0" marL="0">
                        <a:buNone/>
                      </a:pPr>
                      <a:r>
                        <a:rPr lang="en-US" sz="1300" dirty="0">
                          <a:solidFill>
                            <a:srgbClr val="1A1A1A"/>
                          </a:solidFill>
                          <a:latin typeface="Arial" pitchFamily="34" charset="0"/>
                          <a:ea typeface="Arial" pitchFamily="34" charset="-122"/>
                          <a:cs typeface="Arial" pitchFamily="34" charset="-120"/>
                        </a:rPr>
                        <a:t>Plan made once per route</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Monsters keep moving for the whole route (0.4 s per coin)</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r h="566928">
                <a:tc>
                  <a:txBody>
                    <a:bodyPr/>
                    <a:lstStyle/>
                    <a:p>
                      <a:pPr indent="0" marL="0">
                        <a:buNone/>
                      </a:pPr>
                      <a:r>
                        <a:rPr lang="en-US" sz="1300" dirty="0">
                          <a:solidFill>
                            <a:srgbClr val="1A1A1A"/>
                          </a:solidFill>
                          <a:latin typeface="Arial" pitchFamily="34" charset="0"/>
                          <a:ea typeface="Arial" pitchFamily="34" charset="-122"/>
                          <a:cs typeface="Arial" pitchFamily="34" charset="-120"/>
                        </a:rPr>
                        <a:t>Start point never updated</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Every new plan starts from (0.1, 0.1), not the character</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r h="566928">
                <a:tc>
                  <a:txBody>
                    <a:bodyPr/>
                    <a:lstStyle/>
                    <a:p>
                      <a:pPr indent="0" marL="0">
                        <a:buNone/>
                      </a:pPr>
                      <a:r>
                        <a:rPr lang="en-US" sz="1300" dirty="0">
                          <a:solidFill>
                            <a:srgbClr val="1A1A1A"/>
                          </a:solidFill>
                          <a:latin typeface="Arial" pitchFamily="34" charset="0"/>
                          <a:ea typeface="Arial" pitchFamily="34" charset="-122"/>
                          <a:cs typeface="Arial" pitchFamily="34" charset="-120"/>
                        </a:rPr>
                        <a:t>Coin filter bug</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Deletes from the list it loops over; the wrong coins get dropped</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r h="566928">
                <a:tc>
                  <a:txBody>
                    <a:bodyPr/>
                    <a:lstStyle/>
                    <a:p>
                      <a:pPr indent="0" marL="0">
                        <a:buNone/>
                      </a:pPr>
                      <a:r>
                        <a:rPr lang="en-US" sz="1300" dirty="0">
                          <a:solidFill>
                            <a:srgbClr val="1A1A1A"/>
                          </a:solidFill>
                          <a:latin typeface="Arial" pitchFamily="34" charset="0"/>
                          <a:ea typeface="Arial" pitchFamily="34" charset="-122"/>
                          <a:cs typeface="Arial" pitchFamily="34" charset="-120"/>
                        </a:rPr>
                        <a:t>Thread never stops</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After a death two agents drive the next level</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bl>
          </a:graphicData>
        </a:graphic>
      </p:graphicFrame>
      <p:sp>
        <p:nvSpPr>
          <p:cNvPr id="6" name="Text 2"/>
          <p:cNvSpPr txBox="1"/>
          <p:nvPr/>
        </p:nvSpPr>
        <p:spPr>
          <a:xfrm>
            <a:off x="4572000" y="5394960"/>
            <a:ext cx="6949440" cy="731520"/>
          </a:xfrm>
          <a:prstGeom prst="rect">
            <a:avLst/>
          </a:prstGeom>
          <a:solidFill>
            <a:srgbClr val="FAF9F8"/>
          </a:solidFill>
          <a:ln/>
        </p:spPr>
        <p:txBody>
          <a:bodyPr wrap="square" lIns="76200" tIns="152400" rIns="152400" bIns="76200" rtlCol="0" anchor="ctr"/>
          <a:lstStyle/>
          <a:p>
            <a:pPr indent="0" marL="0">
              <a:buNone/>
            </a:pPr>
            <a:r>
              <a:rPr lang="en-US" sz="1400" dirty="0">
                <a:solidFill>
                  <a:srgbClr val="1A1A1A"/>
                </a:solidFill>
                <a:latin typeface="Arial" pitchFamily="34" charset="0"/>
                <a:ea typeface="Arial" pitchFamily="34" charset="-122"/>
                <a:cs typeface="Arial" pitchFamily="34" charset="-120"/>
              </a:rPr>
              <a:t>Result in the real game: 52 of 59 runs won (88.1%), 7 deaths, 64.6% life left on average.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Two facts about the game shaped our design</a:t>
            </a:r>
            <a:endParaRPr lang="en-US" sz="2600" dirty="0"/>
          </a:p>
        </p:txBody>
      </p:sp>
      <p:sp>
        <p:nvSpPr>
          <p:cNvPr id="3" name="Text 0"/>
          <p:cNvSpPr/>
          <p:nvPr>
            <p:ph idx="101" type="body" hasCustomPrompt="1"/>
          </p:nvPr>
        </p:nvSpPr>
        <p:spPr>
          <a:xfrm>
            <a:off x="640080" y="969264"/>
            <a:ext cx="10881360" cy="365760"/>
          </a:xfrm>
          <a:prstGeom prst="rect">
            <a:avLst/>
          </a:prstGeom>
          <a:noFill/>
          <a:ln/>
        </p:spPr>
        <p:txBody>
          <a:bodyPr wrap="square" lIns="0" tIns="0" rIns="0" bIns="0" rtlCol="0" anchor="ctr"/>
          <a:lstStyle/>
          <a:p>
            <a:pPr algn="l" indent="0" marL="0">
              <a:buNone/>
            </a:pPr>
            <a:r>
              <a:rPr lang="en-US" sz="1300" dirty="0">
                <a:solidFill>
                  <a:srgbClr val="6E6C68"/>
                </a:solidFill>
                <a:latin typeface="Arial" pitchFamily="34" charset="0"/>
                <a:ea typeface="Arial" pitchFamily="34" charset="-122"/>
                <a:cs typeface="Arial" pitchFamily="34" charset="-120"/>
              </a:rPr>
              <a:t>Read from main_work_greedy.py and cointex.kv</a:t>
            </a:r>
            <a:endParaRPr lang="en-US" sz="1300" dirty="0"/>
          </a:p>
        </p:txBody>
      </p:sp>
      <p:sp>
        <p:nvSpPr>
          <p:cNvPr id="4" name="Text 2"/>
          <p:cNvSpPr txBox="1"/>
          <p:nvPr/>
        </p:nvSpPr>
        <p:spPr>
          <a:xfrm>
            <a:off x="640080" y="1737360"/>
            <a:ext cx="5120640" cy="822960"/>
          </a:xfrm>
          <a:prstGeom prst="rect">
            <a:avLst/>
          </a:prstGeom>
          <a:noFill/>
          <a:ln/>
        </p:spPr>
        <p:txBody>
          <a:bodyPr wrap="square" lIns="0" tIns="0" rIns="0" bIns="0" rtlCol="0" anchor="ctr"/>
          <a:lstStyle/>
          <a:p>
            <a:pPr indent="0" marL="0">
              <a:buNone/>
            </a:pPr>
            <a:r>
              <a:rPr lang="en-US" sz="4000" b="1" dirty="0">
                <a:solidFill>
                  <a:srgbClr val="B01B2E"/>
                </a:solidFill>
                <a:latin typeface="Arial" pitchFamily="34" charset="0"/>
                <a:ea typeface="Arial" pitchFamily="34" charset="-122"/>
                <a:cs typeface="Arial" pitchFamily="34" charset="-120"/>
              </a:rPr>
              <a:t>0.25 s</a:t>
            </a:r>
            <a:endParaRPr lang="en-US" sz="4000" dirty="0"/>
          </a:p>
        </p:txBody>
      </p:sp>
      <p:sp>
        <p:nvSpPr>
          <p:cNvPr id="5" name="Text 3"/>
          <p:cNvSpPr txBox="1"/>
          <p:nvPr/>
        </p:nvSpPr>
        <p:spPr>
          <a:xfrm>
            <a:off x="640080" y="2560320"/>
            <a:ext cx="5120640" cy="548640"/>
          </a:xfrm>
          <a:prstGeom prst="rect">
            <a:avLst/>
          </a:prstGeom>
          <a:noFill/>
          <a:ln/>
        </p:spPr>
        <p:txBody>
          <a:bodyPr wrap="square" lIns="0" tIns="0" rIns="0" bIns="0" rtlCol="0" anchor="t"/>
          <a:lstStyle/>
          <a:p>
            <a:pPr indent="0" marL="0">
              <a:buNone/>
            </a:pPr>
            <a:r>
              <a:rPr lang="en-US" sz="1300" dirty="0">
                <a:solidFill>
                  <a:srgbClr val="6E6C68"/>
                </a:solidFill>
                <a:latin typeface="Arial" pitchFamily="34" charset="0"/>
                <a:ea typeface="Arial" pitchFamily="34" charset="-122"/>
                <a:cs typeface="Arial" pitchFamily="34" charset="-120"/>
              </a:rPr>
              <a:t>per jump, whatever the distance</a:t>
            </a:r>
            <a:endParaRPr lang="en-US" sz="1300" dirty="0"/>
          </a:p>
        </p:txBody>
      </p:sp>
      <p:sp>
        <p:nvSpPr>
          <p:cNvPr id="6" name="Text 4"/>
          <p:cNvSpPr txBox="1"/>
          <p:nvPr/>
        </p:nvSpPr>
        <p:spPr>
          <a:xfrm>
            <a:off x="640080" y="3200400"/>
            <a:ext cx="512064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A1A1A"/>
                </a:solidFill>
                <a:latin typeface="Arial" pitchFamily="34" charset="0"/>
                <a:ea typeface="Arial" pitchFamily="34" charset="-122"/>
                <a:cs typeface="Arial" pitchFamily="34" charset="-120"/>
              </a:rPr>
              <a:t>Time to clear a level depends on the number of jumps, not the distance travelled</a:t>
            </a:r>
            <a:endParaRPr lang="en-US" sz="1500" dirty="0"/>
          </a:p>
          <a:p>
            <a:pPr marL="342900" indent="-342900">
              <a:spcAft>
                <a:spcPts val="800"/>
              </a:spcAft>
              <a:buSzPct val="100000"/>
              <a:buChar char="•"/>
            </a:pPr>
            <a:r>
              <a:rPr lang="en-US" sz="1500" dirty="0">
                <a:solidFill>
                  <a:srgbClr val="1A1A1A"/>
                </a:solidFill>
                <a:latin typeface="Arial" pitchFamily="34" charset="0"/>
                <a:ea typeface="Arial" pitchFamily="34" charset="-122"/>
                <a:cs typeface="Arial" pitchFamily="34" charset="-120"/>
              </a:rPr>
              <a:t>Shortening the route, which is what greedy optimises, saves no time</a:t>
            </a:r>
            <a:endParaRPr lang="en-US" sz="1500" dirty="0"/>
          </a:p>
          <a:p>
            <a:pPr marL="342900" indent="-342900">
              <a:spcAft>
                <a:spcPts val="800"/>
              </a:spcAft>
              <a:buSzPct val="100000"/>
              <a:buChar char="•"/>
            </a:pPr>
            <a:r>
              <a:rPr lang="en-US" sz="1500" dirty="0">
                <a:solidFill>
                  <a:srgbClr val="1A1A1A"/>
                </a:solidFill>
                <a:latin typeface="Arial" pitchFamily="34" charset="0"/>
                <a:ea typeface="Arial" pitchFamily="34" charset="-122"/>
                <a:cs typeface="Arial" pitchFamily="34" charset="-120"/>
              </a:rPr>
              <a:t>Long jumps are fine as long as nothing is in the way</a:t>
            </a:r>
            <a:endParaRPr lang="en-US" sz="1500" dirty="0"/>
          </a:p>
        </p:txBody>
      </p:sp>
      <p:sp>
        <p:nvSpPr>
          <p:cNvPr id="7" name="Text 5"/>
          <p:cNvSpPr txBox="1"/>
          <p:nvPr/>
        </p:nvSpPr>
        <p:spPr>
          <a:xfrm>
            <a:off x="6309360" y="1737360"/>
            <a:ext cx="5212080" cy="822960"/>
          </a:xfrm>
          <a:prstGeom prst="rect">
            <a:avLst/>
          </a:prstGeom>
          <a:noFill/>
          <a:ln/>
        </p:spPr>
        <p:txBody>
          <a:bodyPr wrap="square" lIns="0" tIns="0" rIns="0" bIns="0" rtlCol="0" anchor="ctr"/>
          <a:lstStyle/>
          <a:p>
            <a:pPr indent="0" marL="0">
              <a:buNone/>
            </a:pPr>
            <a:r>
              <a:rPr lang="en-US" sz="4000" b="1" dirty="0">
                <a:solidFill>
                  <a:srgbClr val="B01B2E"/>
                </a:solidFill>
                <a:latin typeface="Arial" pitchFamily="34" charset="0"/>
                <a:ea typeface="Arial" pitchFamily="34" charset="-122"/>
                <a:cs typeface="Arial" pitchFamily="34" charset="-120"/>
              </a:rPr>
              <a:t>20-35</a:t>
            </a:r>
            <a:endParaRPr lang="en-US" sz="4000" dirty="0"/>
          </a:p>
        </p:txBody>
      </p:sp>
      <p:sp>
        <p:nvSpPr>
          <p:cNvPr id="8" name="Text 6"/>
          <p:cNvSpPr txBox="1"/>
          <p:nvPr/>
        </p:nvSpPr>
        <p:spPr>
          <a:xfrm>
            <a:off x="6309360" y="2560320"/>
            <a:ext cx="5212080" cy="548640"/>
          </a:xfrm>
          <a:prstGeom prst="rect">
            <a:avLst/>
          </a:prstGeom>
          <a:noFill/>
          <a:ln/>
        </p:spPr>
        <p:txBody>
          <a:bodyPr wrap="square" lIns="0" tIns="0" rIns="0" bIns="0" rtlCol="0" anchor="t"/>
          <a:lstStyle/>
          <a:p>
            <a:pPr indent="0" marL="0">
              <a:buNone/>
            </a:pPr>
            <a:r>
              <a:rPr lang="en-US" sz="1300" dirty="0">
                <a:solidFill>
                  <a:srgbClr val="6E6C68"/>
                </a:solidFill>
                <a:latin typeface="Arial" pitchFamily="34" charset="0"/>
                <a:ea typeface="Arial" pitchFamily="34" charset="-122"/>
                <a:cs typeface="Arial" pitchFamily="34" charset="-120"/>
              </a:rPr>
              <a:t>frames of contact before the character dies</a:t>
            </a:r>
            <a:endParaRPr lang="en-US" sz="1300" dirty="0"/>
          </a:p>
        </p:txBody>
      </p:sp>
      <p:sp>
        <p:nvSpPr>
          <p:cNvPr id="9" name="Text 7"/>
          <p:cNvSpPr txBox="1"/>
          <p:nvPr/>
        </p:nvSpPr>
        <p:spPr>
          <a:xfrm>
            <a:off x="6309360" y="3200400"/>
            <a:ext cx="521208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A1A1A"/>
                </a:solidFill>
                <a:latin typeface="Arial" pitchFamily="34" charset="0"/>
                <a:ea typeface="Arial" pitchFamily="34" charset="-122"/>
                <a:cs typeface="Arial" pitchFamily="34" charset="-120"/>
              </a:rPr>
              <a:t>One life point is lost for every frame touching a monster or fire</a:t>
            </a:r>
            <a:endParaRPr lang="en-US" sz="1500" dirty="0"/>
          </a:p>
          <a:p>
            <a:pPr marL="342900" indent="-342900">
              <a:spcAft>
                <a:spcPts val="800"/>
              </a:spcAft>
              <a:buSzPct val="100000"/>
              <a:buChar char="•"/>
            </a:pPr>
            <a:r>
              <a:rPr lang="en-US" sz="1500" dirty="0">
                <a:solidFill>
                  <a:srgbClr val="1A1A1A"/>
                </a:solidFill>
                <a:latin typeface="Arial" pitchFamily="34" charset="0"/>
                <a:ea typeface="Arial" pitchFamily="34" charset="-122"/>
                <a:cs typeface="Arial" pitchFamily="34" charset="-120"/>
              </a:rPr>
              <a:t>At 60 fps that is about a third to half a second of contact</a:t>
            </a:r>
            <a:endParaRPr lang="en-US" sz="1500" dirty="0"/>
          </a:p>
          <a:p>
            <a:pPr marL="342900" indent="-342900">
              <a:spcAft>
                <a:spcPts val="800"/>
              </a:spcAft>
              <a:buSzPct val="100000"/>
              <a:buChar char="•"/>
            </a:pPr>
            <a:r>
              <a:rPr lang="en-US" sz="1500" dirty="0">
                <a:solidFill>
                  <a:srgbClr val="1A1A1A"/>
                </a:solidFill>
                <a:latin typeface="Arial" pitchFamily="34" charset="0"/>
                <a:ea typeface="Arial" pitchFamily="34" charset="-122"/>
                <a:cs typeface="Arial" pitchFamily="34" charset="-120"/>
              </a:rPr>
              <a:t>So the agent must know when it will be near a hazard, as well as where</a:t>
            </a:r>
            <a:endParaRPr lang="en-US" sz="1500" dirty="0"/>
          </a:p>
        </p:txBody>
      </p:sp>
      <p:sp>
        <p:nvSpPr>
          <p:cNvPr id="10" name="Text 8"/>
          <p:cNvSpPr txBox="1"/>
          <p:nvPr/>
        </p:nvSpPr>
        <p:spPr>
          <a:xfrm>
            <a:off x="640080" y="5486400"/>
            <a:ext cx="10881360" cy="548640"/>
          </a:xfrm>
          <a:prstGeom prst="rect">
            <a:avLst/>
          </a:prstGeom>
          <a:solidFill>
            <a:srgbClr val="FAF9F8"/>
          </a:solidFill>
          <a:ln/>
        </p:spPr>
        <p:txBody>
          <a:bodyPr wrap="square" lIns="76200" tIns="152400" rIns="152400" bIns="76200" rtlCol="0" anchor="ctr"/>
          <a:lstStyle/>
          <a:p>
            <a:pPr indent="0" marL="0">
              <a:buNone/>
            </a:pPr>
            <a:r>
              <a:rPr lang="en-US" sz="1400" dirty="0">
                <a:solidFill>
                  <a:srgbClr val="1A1A1A"/>
                </a:solidFill>
                <a:latin typeface="Arial" pitchFamily="34" charset="0"/>
                <a:ea typeface="Arial" pitchFamily="34" charset="-122"/>
                <a:cs typeface="Arial" pitchFamily="34" charset="-120"/>
              </a:rPr>
              <a:t>Hit boxes from cointex.kv: monster within 0.075 of the character's centre, fire within 0.05. Coins are collected within 0.05.</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Our agent re-plans every jump with A*</a:t>
            </a:r>
            <a:endParaRPr lang="en-US" sz="2600" dirty="0"/>
          </a:p>
        </p:txBody>
      </p:sp>
      <p:sp>
        <p:nvSpPr>
          <p:cNvPr id="3" name="Text 0"/>
          <p:cNvSpPr/>
          <p:nvPr>
            <p:ph idx="101" type="body" hasCustomPrompt="1"/>
          </p:nvPr>
        </p:nvSpPr>
        <p:spPr>
          <a:xfrm>
            <a:off x="640080" y="969264"/>
            <a:ext cx="10881360" cy="365760"/>
          </a:xfrm>
          <a:prstGeom prst="rect">
            <a:avLst/>
          </a:prstGeom>
          <a:noFill/>
          <a:ln/>
        </p:spPr>
        <p:txBody>
          <a:bodyPr wrap="square" lIns="0" tIns="0" rIns="0" bIns="0" rtlCol="0" anchor="ctr"/>
          <a:lstStyle/>
          <a:p>
            <a:pPr algn="l" indent="0" marL="0">
              <a:buNone/>
            </a:pPr>
            <a:r>
              <a:rPr lang="en-US" sz="1300" dirty="0">
                <a:solidFill>
                  <a:srgbClr val="6E6C68"/>
                </a:solidFill>
                <a:latin typeface="Arial" pitchFamily="34" charset="0"/>
                <a:ea typeface="Arial" pitchFamily="34" charset="-122"/>
                <a:cs typeface="Arial" pitchFamily="34" charset="-120"/>
              </a:rPr>
              <a:t>A* from Lecture 3: expand the lowest f(n) = g(n) + h(n); g counts danger, h is an admissible straight-line guess</a:t>
            </a:r>
            <a:endParaRPr lang="en-US" sz="1300" dirty="0"/>
          </a:p>
        </p:txBody>
      </p:sp>
      <p:sp>
        <p:nvSpPr>
          <p:cNvPr id="4" name="step1"/>
          <p:cNvSpPr/>
          <p:nvPr/>
        </p:nvSpPr>
        <p:spPr>
          <a:xfrm>
            <a:off x="640080" y="1600200"/>
            <a:ext cx="1938528" cy="566928"/>
          </a:xfrm>
          <a:prstGeom prst="roundRect">
            <a:avLst>
              <a:gd name="adj" fmla="val 12903"/>
            </a:avLst>
          </a:prstGeom>
          <a:solidFill>
            <a:srgbClr val="FFFFFF"/>
          </a:solidFill>
          <a:ln w="15875">
            <a:solidFill>
              <a:srgbClr val="1A1A1A"/>
            </a:solidFill>
            <a:prstDash val="solid"/>
          </a:ln>
        </p:spPr>
      </p:sp>
      <p:sp>
        <p:nvSpPr>
          <p:cNvPr id="5" name="Text 3"/>
          <p:cNvSpPr txBox="1"/>
          <p:nvPr/>
        </p:nvSpPr>
        <p:spPr>
          <a:xfrm>
            <a:off x="640080" y="1600200"/>
            <a:ext cx="1938528" cy="566928"/>
          </a:xfrm>
          <a:prstGeom prst="rect">
            <a:avLst/>
          </a:prstGeom>
          <a:noFill/>
          <a:ln/>
        </p:spPr>
        <p:txBody>
          <a:bodyPr wrap="square" lIns="0" tIns="0" rIns="0" bIns="0" rtlCol="0" anchor="ctr"/>
          <a:lstStyle/>
          <a:p>
            <a:pPr algn="ctr" indent="0" marL="0">
              <a:buNone/>
            </a:pPr>
            <a:r>
              <a:rPr lang="en-US" sz="1500" b="1" dirty="0">
                <a:solidFill>
                  <a:srgbClr val="1A1A1A"/>
                </a:solidFill>
                <a:latin typeface="Arial" pitchFamily="34" charset="0"/>
                <a:ea typeface="Arial" pitchFamily="34" charset="-122"/>
                <a:cs typeface="Arial" pitchFamily="34" charset="-120"/>
              </a:rPr>
              <a:t>1  Sense</a:t>
            </a:r>
            <a:endParaRPr lang="en-US" sz="1500" dirty="0"/>
          </a:p>
        </p:txBody>
      </p:sp>
      <p:sp>
        <p:nvSpPr>
          <p:cNvPr id="6" name="Text 4"/>
          <p:cNvSpPr txBox="1"/>
          <p:nvPr/>
        </p:nvSpPr>
        <p:spPr>
          <a:xfrm>
            <a:off x="640080" y="2286000"/>
            <a:ext cx="1938528" cy="118872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Positions of the character, coins, monsters and fires; hazard speeds from the last snapshot</a:t>
            </a:r>
            <a:endParaRPr lang="en-US" sz="1250" dirty="0"/>
          </a:p>
        </p:txBody>
      </p:sp>
      <p:sp>
        <p:nvSpPr>
          <p:cNvPr id="7" name="Shape 5"/>
          <p:cNvSpPr/>
          <p:nvPr/>
        </p:nvSpPr>
        <p:spPr>
          <a:xfrm>
            <a:off x="2624328" y="1883664"/>
            <a:ext cx="210312" cy="0"/>
          </a:xfrm>
          <a:prstGeom prst="line">
            <a:avLst/>
          </a:prstGeom>
          <a:noFill/>
          <a:ln w="19050">
            <a:solidFill>
              <a:srgbClr val="6E6C68"/>
            </a:solidFill>
            <a:prstDash val="solid"/>
            <a:tailEnd type="triangle"/>
          </a:ln>
        </p:spPr>
      </p:sp>
      <p:sp>
        <p:nvSpPr>
          <p:cNvPr id="8" name="step2"/>
          <p:cNvSpPr/>
          <p:nvPr/>
        </p:nvSpPr>
        <p:spPr>
          <a:xfrm>
            <a:off x="2880360" y="1600200"/>
            <a:ext cx="1938528" cy="566928"/>
          </a:xfrm>
          <a:prstGeom prst="roundRect">
            <a:avLst>
              <a:gd name="adj" fmla="val 12903"/>
            </a:avLst>
          </a:prstGeom>
          <a:solidFill>
            <a:srgbClr val="FFFFFF"/>
          </a:solidFill>
          <a:ln w="15875">
            <a:solidFill>
              <a:srgbClr val="1A1A1A"/>
            </a:solidFill>
            <a:prstDash val="solid"/>
          </a:ln>
        </p:spPr>
      </p:sp>
      <p:sp>
        <p:nvSpPr>
          <p:cNvPr id="9" name="Text 7"/>
          <p:cNvSpPr txBox="1"/>
          <p:nvPr/>
        </p:nvSpPr>
        <p:spPr>
          <a:xfrm>
            <a:off x="2880360" y="1600200"/>
            <a:ext cx="1938528" cy="566928"/>
          </a:xfrm>
          <a:prstGeom prst="rect">
            <a:avLst/>
          </a:prstGeom>
          <a:noFill/>
          <a:ln/>
        </p:spPr>
        <p:txBody>
          <a:bodyPr wrap="square" lIns="0" tIns="0" rIns="0" bIns="0" rtlCol="0" anchor="ctr"/>
          <a:lstStyle/>
          <a:p>
            <a:pPr algn="ctr" indent="0" marL="0">
              <a:buNone/>
            </a:pPr>
            <a:r>
              <a:rPr lang="en-US" sz="1500" b="1" dirty="0">
                <a:solidFill>
                  <a:srgbClr val="1A1A1A"/>
                </a:solidFill>
                <a:latin typeface="Arial" pitchFamily="34" charset="0"/>
                <a:ea typeface="Arial" pitchFamily="34" charset="-122"/>
                <a:cs typeface="Arial" pitchFamily="34" charset="-120"/>
              </a:rPr>
              <a:t>2  Predict</a:t>
            </a:r>
            <a:endParaRPr lang="en-US" sz="1500" dirty="0"/>
          </a:p>
        </p:txBody>
      </p:sp>
      <p:sp>
        <p:nvSpPr>
          <p:cNvPr id="10" name="Text 8"/>
          <p:cNvSpPr txBox="1"/>
          <p:nvPr/>
        </p:nvSpPr>
        <p:spPr>
          <a:xfrm>
            <a:off x="2880360" y="2286000"/>
            <a:ext cx="1938528" cy="118872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Monsters keep their speed, with a margin that grows with time; fires bounce along their path</a:t>
            </a:r>
            <a:endParaRPr lang="en-US" sz="1250" dirty="0"/>
          </a:p>
        </p:txBody>
      </p:sp>
      <p:sp>
        <p:nvSpPr>
          <p:cNvPr id="11" name="Shape 9"/>
          <p:cNvSpPr/>
          <p:nvPr/>
        </p:nvSpPr>
        <p:spPr>
          <a:xfrm>
            <a:off x="4864608" y="1883664"/>
            <a:ext cx="210312" cy="0"/>
          </a:xfrm>
          <a:prstGeom prst="line">
            <a:avLst/>
          </a:prstGeom>
          <a:noFill/>
          <a:ln w="19050">
            <a:solidFill>
              <a:srgbClr val="6E6C68"/>
            </a:solidFill>
            <a:prstDash val="solid"/>
            <a:tailEnd type="triangle"/>
          </a:ln>
        </p:spPr>
      </p:sp>
      <p:sp>
        <p:nvSpPr>
          <p:cNvPr id="12" name="step3"/>
          <p:cNvSpPr/>
          <p:nvPr/>
        </p:nvSpPr>
        <p:spPr>
          <a:xfrm>
            <a:off x="5120640" y="1600200"/>
            <a:ext cx="1938528" cy="566928"/>
          </a:xfrm>
          <a:prstGeom prst="roundRect">
            <a:avLst>
              <a:gd name="adj" fmla="val 12903"/>
            </a:avLst>
          </a:prstGeom>
          <a:solidFill>
            <a:srgbClr val="FFFFFF"/>
          </a:solidFill>
          <a:ln w="15875">
            <a:solidFill>
              <a:srgbClr val="1A1A1A"/>
            </a:solidFill>
            <a:prstDash val="solid"/>
          </a:ln>
        </p:spPr>
      </p:sp>
      <p:sp>
        <p:nvSpPr>
          <p:cNvPr id="13" name="Text 11"/>
          <p:cNvSpPr txBox="1"/>
          <p:nvPr/>
        </p:nvSpPr>
        <p:spPr>
          <a:xfrm>
            <a:off x="5120640" y="1600200"/>
            <a:ext cx="1938528" cy="566928"/>
          </a:xfrm>
          <a:prstGeom prst="rect">
            <a:avLst/>
          </a:prstGeom>
          <a:noFill/>
          <a:ln/>
        </p:spPr>
        <p:txBody>
          <a:bodyPr wrap="square" lIns="0" tIns="0" rIns="0" bIns="0" rtlCol="0" anchor="ctr"/>
          <a:lstStyle/>
          <a:p>
            <a:pPr algn="ctr" indent="0" marL="0">
              <a:buNone/>
            </a:pPr>
            <a:r>
              <a:rPr lang="en-US" sz="1500" b="1" dirty="0">
                <a:solidFill>
                  <a:srgbClr val="1A1A1A"/>
                </a:solidFill>
                <a:latin typeface="Arial" pitchFamily="34" charset="0"/>
                <a:ea typeface="Arial" pitchFamily="34" charset="-122"/>
                <a:cs typeface="Arial" pitchFamily="34" charset="-120"/>
              </a:rPr>
              <a:t>3  Danger map</a:t>
            </a:r>
            <a:endParaRPr lang="en-US" sz="1500" dirty="0"/>
          </a:p>
        </p:txBody>
      </p:sp>
      <p:sp>
        <p:nvSpPr>
          <p:cNvPr id="14" name="Text 12"/>
          <p:cNvSpPr txBox="1"/>
          <p:nvPr/>
        </p:nvSpPr>
        <p:spPr>
          <a:xfrm>
            <a:off x="5120640" y="2286000"/>
            <a:ext cx="1938528" cy="118872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40 × 40 grid over the screen: very costly inside a predicted hit box, less so nearby</a:t>
            </a:r>
            <a:endParaRPr lang="en-US" sz="1250" dirty="0"/>
          </a:p>
        </p:txBody>
      </p:sp>
      <p:sp>
        <p:nvSpPr>
          <p:cNvPr id="15" name="Shape 13"/>
          <p:cNvSpPr/>
          <p:nvPr/>
        </p:nvSpPr>
        <p:spPr>
          <a:xfrm>
            <a:off x="7104888" y="1883664"/>
            <a:ext cx="210312" cy="0"/>
          </a:xfrm>
          <a:prstGeom prst="line">
            <a:avLst/>
          </a:prstGeom>
          <a:noFill/>
          <a:ln w="19050">
            <a:solidFill>
              <a:srgbClr val="6E6C68"/>
            </a:solidFill>
            <a:prstDash val="solid"/>
            <a:tailEnd type="triangle"/>
          </a:ln>
        </p:spPr>
      </p:sp>
      <p:sp>
        <p:nvSpPr>
          <p:cNvPr id="16" name="step4"/>
          <p:cNvSpPr/>
          <p:nvPr/>
        </p:nvSpPr>
        <p:spPr>
          <a:xfrm>
            <a:off x="7360920" y="1600200"/>
            <a:ext cx="1938528" cy="566928"/>
          </a:xfrm>
          <a:prstGeom prst="roundRect">
            <a:avLst>
              <a:gd name="adj" fmla="val 12903"/>
            </a:avLst>
          </a:prstGeom>
          <a:solidFill>
            <a:srgbClr val="B01B2E"/>
          </a:solidFill>
          <a:ln w="15875">
            <a:solidFill>
              <a:srgbClr val="B01B2E"/>
            </a:solidFill>
            <a:prstDash val="solid"/>
          </a:ln>
        </p:spPr>
      </p:sp>
      <p:sp>
        <p:nvSpPr>
          <p:cNvPr id="17" name="Text 15"/>
          <p:cNvSpPr txBox="1"/>
          <p:nvPr/>
        </p:nvSpPr>
        <p:spPr>
          <a:xfrm>
            <a:off x="7360920" y="1600200"/>
            <a:ext cx="19385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  A* search</a:t>
            </a:r>
            <a:endParaRPr lang="en-US" sz="1500" dirty="0"/>
          </a:p>
        </p:txBody>
      </p:sp>
      <p:sp>
        <p:nvSpPr>
          <p:cNvPr id="18" name="Text 16"/>
          <p:cNvSpPr txBox="1"/>
          <p:nvPr/>
        </p:nvSpPr>
        <p:spPr>
          <a:xfrm>
            <a:off x="7360920" y="2286000"/>
            <a:ext cx="1938528" cy="118872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Cheapest path to any coin; step cost = length × (1 + 8 × danger)</a:t>
            </a:r>
            <a:endParaRPr lang="en-US" sz="1250" dirty="0"/>
          </a:p>
        </p:txBody>
      </p:sp>
      <p:sp>
        <p:nvSpPr>
          <p:cNvPr id="19" name="Shape 17"/>
          <p:cNvSpPr/>
          <p:nvPr/>
        </p:nvSpPr>
        <p:spPr>
          <a:xfrm>
            <a:off x="9345168" y="1883664"/>
            <a:ext cx="210312" cy="0"/>
          </a:xfrm>
          <a:prstGeom prst="line">
            <a:avLst/>
          </a:prstGeom>
          <a:noFill/>
          <a:ln w="19050">
            <a:solidFill>
              <a:srgbClr val="6E6C68"/>
            </a:solidFill>
            <a:prstDash val="solid"/>
            <a:tailEnd type="triangle"/>
          </a:ln>
        </p:spPr>
      </p:sp>
      <p:sp>
        <p:nvSpPr>
          <p:cNvPr id="20" name="step5"/>
          <p:cNvSpPr/>
          <p:nvPr/>
        </p:nvSpPr>
        <p:spPr>
          <a:xfrm>
            <a:off x="9601200" y="1600200"/>
            <a:ext cx="1938528" cy="566928"/>
          </a:xfrm>
          <a:prstGeom prst="roundRect">
            <a:avLst>
              <a:gd name="adj" fmla="val 12903"/>
            </a:avLst>
          </a:prstGeom>
          <a:solidFill>
            <a:srgbClr val="FFFFFF"/>
          </a:solidFill>
          <a:ln w="15875">
            <a:solidFill>
              <a:srgbClr val="1A1A1A"/>
            </a:solidFill>
            <a:prstDash val="solid"/>
          </a:ln>
        </p:spPr>
      </p:sp>
      <p:sp>
        <p:nvSpPr>
          <p:cNvPr id="21" name="Text 19"/>
          <p:cNvSpPr txBox="1"/>
          <p:nvPr/>
        </p:nvSpPr>
        <p:spPr>
          <a:xfrm>
            <a:off x="9601200" y="1600200"/>
            <a:ext cx="1938528" cy="566928"/>
          </a:xfrm>
          <a:prstGeom prst="rect">
            <a:avLst/>
          </a:prstGeom>
          <a:noFill/>
          <a:ln/>
        </p:spPr>
        <p:txBody>
          <a:bodyPr wrap="square" lIns="0" tIns="0" rIns="0" bIns="0" rtlCol="0" anchor="ctr"/>
          <a:lstStyle/>
          <a:p>
            <a:pPr algn="ctr" indent="0" marL="0">
              <a:buNone/>
            </a:pPr>
            <a:r>
              <a:rPr lang="en-US" sz="1500" b="1" dirty="0">
                <a:solidFill>
                  <a:srgbClr val="1A1A1A"/>
                </a:solidFill>
                <a:latin typeface="Arial" pitchFamily="34" charset="0"/>
                <a:ea typeface="Arial" pitchFamily="34" charset="-122"/>
                <a:cs typeface="Arial" pitchFamily="34" charset="-120"/>
              </a:rPr>
              <a:t>5  Safe jump</a:t>
            </a:r>
            <a:endParaRPr lang="en-US" sz="1500" dirty="0"/>
          </a:p>
        </p:txBody>
      </p:sp>
      <p:sp>
        <p:nvSpPr>
          <p:cNvPr id="22" name="Text 20"/>
          <p:cNvSpPr txBox="1"/>
          <p:nvPr/>
        </p:nvSpPr>
        <p:spPr>
          <a:xfrm>
            <a:off x="9601200" y="2286000"/>
            <a:ext cx="1938528" cy="1188720"/>
          </a:xfrm>
          <a:prstGeom prst="rect">
            <a:avLst/>
          </a:prstGeom>
          <a:noFill/>
          <a:ln/>
        </p:spPr>
        <p:txBody>
          <a:bodyPr wrap="square" lIns="0" tIns="0" rIns="0" bIns="0" rtlCol="0" anchor="t"/>
          <a:lstStyle/>
          <a:p>
            <a:pPr indent="0" marL="0">
              <a:buNone/>
            </a:pPr>
            <a:r>
              <a:rPr lang="en-US" sz="1250" dirty="0">
                <a:solidFill>
                  <a:srgbClr val="1A1A1A"/>
                </a:solidFill>
                <a:latin typeface="Arial" pitchFamily="34" charset="0"/>
                <a:ea typeface="Arial" pitchFamily="34" charset="-122"/>
                <a:cs typeface="Arial" pitchFamily="34" charset="-120"/>
              </a:rPr>
              <a:t>Longest straight jump that is clear at the moment the character passes</a:t>
            </a:r>
            <a:endParaRPr lang="en-US" sz="1250" dirty="0"/>
          </a:p>
        </p:txBody>
      </p:sp>
      <p:sp>
        <p:nvSpPr>
          <p:cNvPr id="23" name="Text 21"/>
          <p:cNvSpPr txBox="1"/>
          <p:nvPr/>
        </p:nvSpPr>
        <p:spPr>
          <a:xfrm>
            <a:off x="640080" y="3703320"/>
            <a:ext cx="10881360" cy="36576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The jump in step 5 is chosen like this:</a:t>
            </a:r>
            <a:endParaRPr lang="en-US" sz="1500" dirty="0"/>
          </a:p>
        </p:txBody>
      </p:sp>
      <p:sp>
        <p:nvSpPr>
          <p:cNvPr id="24" name="outcome1"/>
          <p:cNvSpPr/>
          <p:nvPr/>
        </p:nvSpPr>
        <p:spPr>
          <a:xfrm>
            <a:off x="640080" y="4160520"/>
            <a:ext cx="3493008" cy="1234440"/>
          </a:xfrm>
          <a:prstGeom prst="roundRect">
            <a:avLst>
              <a:gd name="adj" fmla="val 5926"/>
            </a:avLst>
          </a:prstGeom>
          <a:solidFill>
            <a:srgbClr val="FAF9F8"/>
          </a:solidFill>
          <a:ln w="12700">
            <a:solidFill>
              <a:srgbClr val="D8D6D0"/>
            </a:solidFill>
            <a:prstDash val="solid"/>
          </a:ln>
        </p:spPr>
      </p:sp>
      <p:sp>
        <p:nvSpPr>
          <p:cNvPr id="25" name="Text 23"/>
          <p:cNvSpPr txBox="1"/>
          <p:nvPr/>
        </p:nvSpPr>
        <p:spPr>
          <a:xfrm>
            <a:off x="777240" y="4251960"/>
            <a:ext cx="3246120" cy="365760"/>
          </a:xfrm>
          <a:prstGeom prst="rect">
            <a:avLst/>
          </a:prstGeom>
          <a:noFill/>
          <a:ln/>
        </p:spPr>
        <p:txBody>
          <a:bodyPr wrap="square" lIns="0" tIns="0" rIns="0" bIns="0" rtlCol="0" anchor="ctr"/>
          <a:lstStyle/>
          <a:p>
            <a:pPr indent="0" marL="0">
              <a:buNone/>
            </a:pPr>
            <a:r>
              <a:rPr lang="en-US" sz="1400" b="1" dirty="0">
                <a:solidFill>
                  <a:srgbClr val="B01B2E"/>
                </a:solidFill>
                <a:latin typeface="Arial" pitchFamily="34" charset="0"/>
                <a:ea typeface="Arial" pitchFamily="34" charset="-122"/>
                <a:cs typeface="Arial" pitchFamily="34" charset="-120"/>
              </a:rPr>
              <a:t>Coin reachable safely</a:t>
            </a:r>
            <a:endParaRPr lang="en-US" sz="1400" dirty="0"/>
          </a:p>
        </p:txBody>
      </p:sp>
      <p:sp>
        <p:nvSpPr>
          <p:cNvPr id="26" name="Text 24"/>
          <p:cNvSpPr txBox="1"/>
          <p:nvPr/>
        </p:nvSpPr>
        <p:spPr>
          <a:xfrm>
            <a:off x="777240" y="4617720"/>
            <a:ext cx="3246120" cy="685800"/>
          </a:xfrm>
          <a:prstGeom prst="rect">
            <a:avLst/>
          </a:prstGeom>
          <a:noFill/>
          <a:ln/>
        </p:spPr>
        <p:txBody>
          <a:bodyPr wrap="square" lIns="0" tIns="0" rIns="0" bIns="0" rtlCol="0" anchor="t"/>
          <a:lstStyle/>
          <a:p>
            <a:pPr indent="0" marL="0">
              <a:buNone/>
            </a:pPr>
            <a:r>
              <a:rPr lang="en-US" sz="1400" dirty="0">
                <a:solidFill>
                  <a:srgbClr val="1A1A1A"/>
                </a:solidFill>
                <a:latin typeface="Arial" pitchFamily="34" charset="0"/>
                <a:ea typeface="Arial" pitchFamily="34" charset="-122"/>
                <a:cs typeface="Arial" pitchFamily="34" charset="-120"/>
              </a:rPr>
              <a:t>Jump straight to the coin</a:t>
            </a:r>
            <a:endParaRPr lang="en-US" sz="1400" dirty="0"/>
          </a:p>
        </p:txBody>
      </p:sp>
      <p:sp>
        <p:nvSpPr>
          <p:cNvPr id="27" name="outcome2"/>
          <p:cNvSpPr/>
          <p:nvPr/>
        </p:nvSpPr>
        <p:spPr>
          <a:xfrm>
            <a:off x="4315968" y="4160520"/>
            <a:ext cx="3493008" cy="1234440"/>
          </a:xfrm>
          <a:prstGeom prst="roundRect">
            <a:avLst>
              <a:gd name="adj" fmla="val 5926"/>
            </a:avLst>
          </a:prstGeom>
          <a:solidFill>
            <a:srgbClr val="FAF9F8"/>
          </a:solidFill>
          <a:ln w="12700">
            <a:solidFill>
              <a:srgbClr val="D8D6D0"/>
            </a:solidFill>
            <a:prstDash val="solid"/>
          </a:ln>
        </p:spPr>
      </p:sp>
      <p:sp>
        <p:nvSpPr>
          <p:cNvPr id="28" name="Text 26"/>
          <p:cNvSpPr txBox="1"/>
          <p:nvPr/>
        </p:nvSpPr>
        <p:spPr>
          <a:xfrm>
            <a:off x="4453128" y="4251960"/>
            <a:ext cx="3246120" cy="365760"/>
          </a:xfrm>
          <a:prstGeom prst="rect">
            <a:avLst/>
          </a:prstGeom>
          <a:noFill/>
          <a:ln/>
        </p:spPr>
        <p:txBody>
          <a:bodyPr wrap="square" lIns="0" tIns="0" rIns="0" bIns="0" rtlCol="0" anchor="ctr"/>
          <a:lstStyle/>
          <a:p>
            <a:pPr indent="0" marL="0">
              <a:buNone/>
            </a:pPr>
            <a:r>
              <a:rPr lang="en-US" sz="1400" b="1" dirty="0">
                <a:solidFill>
                  <a:srgbClr val="B01B2E"/>
                </a:solidFill>
                <a:latin typeface="Arial" pitchFamily="34" charset="0"/>
                <a:ea typeface="Arial" pitchFamily="34" charset="-122"/>
                <a:cs typeface="Arial" pitchFamily="34" charset="-120"/>
              </a:rPr>
              <a:t>Coin not safe, path is</a:t>
            </a:r>
            <a:endParaRPr lang="en-US" sz="1400" dirty="0"/>
          </a:p>
        </p:txBody>
      </p:sp>
      <p:sp>
        <p:nvSpPr>
          <p:cNvPr id="29" name="Text 27"/>
          <p:cNvSpPr txBox="1"/>
          <p:nvPr/>
        </p:nvSpPr>
        <p:spPr>
          <a:xfrm>
            <a:off x="4453128" y="4617720"/>
            <a:ext cx="3246120" cy="685800"/>
          </a:xfrm>
          <a:prstGeom prst="rect">
            <a:avLst/>
          </a:prstGeom>
          <a:noFill/>
          <a:ln/>
        </p:spPr>
        <p:txBody>
          <a:bodyPr wrap="square" lIns="0" tIns="0" rIns="0" bIns="0" rtlCol="0" anchor="t"/>
          <a:lstStyle/>
          <a:p>
            <a:pPr indent="0" marL="0">
              <a:buNone/>
            </a:pPr>
            <a:r>
              <a:rPr lang="en-US" sz="1400" dirty="0">
                <a:solidFill>
                  <a:srgbClr val="1A1A1A"/>
                </a:solidFill>
                <a:latin typeface="Arial" pitchFamily="34" charset="0"/>
                <a:ea typeface="Arial" pitchFamily="34" charset="-122"/>
                <a:cs typeface="Arial" pitchFamily="34" charset="-120"/>
              </a:rPr>
              <a:t>Jump to the farthest safe point on the A* path</a:t>
            </a:r>
            <a:endParaRPr lang="en-US" sz="1400" dirty="0"/>
          </a:p>
        </p:txBody>
      </p:sp>
      <p:sp>
        <p:nvSpPr>
          <p:cNvPr id="30" name="outcome3"/>
          <p:cNvSpPr/>
          <p:nvPr/>
        </p:nvSpPr>
        <p:spPr>
          <a:xfrm>
            <a:off x="7991856" y="4160520"/>
            <a:ext cx="3493008" cy="1234440"/>
          </a:xfrm>
          <a:prstGeom prst="roundRect">
            <a:avLst>
              <a:gd name="adj" fmla="val 5926"/>
            </a:avLst>
          </a:prstGeom>
          <a:solidFill>
            <a:srgbClr val="FAF9F8"/>
          </a:solidFill>
          <a:ln w="12700">
            <a:solidFill>
              <a:srgbClr val="D8D6D0"/>
            </a:solidFill>
            <a:prstDash val="solid"/>
          </a:ln>
        </p:spPr>
      </p:sp>
      <p:sp>
        <p:nvSpPr>
          <p:cNvPr id="31" name="Text 29"/>
          <p:cNvSpPr txBox="1"/>
          <p:nvPr/>
        </p:nvSpPr>
        <p:spPr>
          <a:xfrm>
            <a:off x="8129016" y="4251960"/>
            <a:ext cx="3246120" cy="365760"/>
          </a:xfrm>
          <a:prstGeom prst="rect">
            <a:avLst/>
          </a:prstGeom>
          <a:noFill/>
          <a:ln/>
        </p:spPr>
        <p:txBody>
          <a:bodyPr wrap="square" lIns="0" tIns="0" rIns="0" bIns="0" rtlCol="0" anchor="ctr"/>
          <a:lstStyle/>
          <a:p>
            <a:pPr indent="0" marL="0">
              <a:buNone/>
            </a:pPr>
            <a:r>
              <a:rPr lang="en-US" sz="1400" b="1" dirty="0">
                <a:solidFill>
                  <a:srgbClr val="B01B2E"/>
                </a:solidFill>
                <a:latin typeface="Arial" pitchFamily="34" charset="0"/>
                <a:ea typeface="Arial" pitchFamily="34" charset="-122"/>
                <a:cs typeface="Arial" pitchFamily="34" charset="-120"/>
              </a:rPr>
              <a:t>Nothing safe</a:t>
            </a:r>
            <a:endParaRPr lang="en-US" sz="1400" dirty="0"/>
          </a:p>
        </p:txBody>
      </p:sp>
      <p:sp>
        <p:nvSpPr>
          <p:cNvPr id="32" name="Text 30"/>
          <p:cNvSpPr txBox="1"/>
          <p:nvPr/>
        </p:nvSpPr>
        <p:spPr>
          <a:xfrm>
            <a:off x="8129016" y="4617720"/>
            <a:ext cx="3246120" cy="685800"/>
          </a:xfrm>
          <a:prstGeom prst="rect">
            <a:avLst/>
          </a:prstGeom>
          <a:noFill/>
          <a:ln/>
        </p:spPr>
        <p:txBody>
          <a:bodyPr wrap="square" lIns="0" tIns="0" rIns="0" bIns="0" rtlCol="0" anchor="t"/>
          <a:lstStyle/>
          <a:p>
            <a:pPr indent="0" marL="0">
              <a:buNone/>
            </a:pPr>
            <a:r>
              <a:rPr lang="en-US" sz="1400" dirty="0">
                <a:solidFill>
                  <a:srgbClr val="1A1A1A"/>
                </a:solidFill>
                <a:latin typeface="Arial" pitchFamily="34" charset="0"/>
                <a:ea typeface="Arial" pitchFamily="34" charset="-122"/>
                <a:cs typeface="Arial" pitchFamily="34" charset="-120"/>
              </a:rPr>
              <a:t>Escape to the nearby point (or stay) with the most clearance</a:t>
            </a:r>
            <a:endParaRPr lang="en-US" sz="1400" dirty="0"/>
          </a:p>
        </p:txBody>
      </p:sp>
      <p:sp>
        <p:nvSpPr>
          <p:cNvPr id="33" name="Text 31"/>
          <p:cNvSpPr txBox="1"/>
          <p:nvPr/>
        </p:nvSpPr>
        <p:spPr>
          <a:xfrm>
            <a:off x="640080" y="5623560"/>
            <a:ext cx="10881360" cy="411480"/>
          </a:xfrm>
          <a:prstGeom prst="rect">
            <a:avLst/>
          </a:prstGeom>
          <a:noFill/>
          <a:ln/>
        </p:spPr>
        <p:txBody>
          <a:bodyPr wrap="square" lIns="0" tIns="0" rIns="0" bIns="0" rtlCol="0" anchor="ctr"/>
          <a:lstStyle/>
          <a:p>
            <a:pPr indent="0" marL="0">
              <a:buNone/>
            </a:pPr>
            <a:r>
              <a:rPr lang="en-US" sz="1400" i="1" dirty="0">
                <a:solidFill>
                  <a:srgbClr val="6E6C68"/>
                </a:solidFill>
                <a:latin typeface="Arial" pitchFamily="34" charset="0"/>
                <a:ea typeface="Arial" pitchFamily="34" charset="-122"/>
                <a:cs typeface="Arial" pitchFamily="34" charset="-120"/>
              </a:rPr>
              <a:t>Repeat every 0.25 s, from wherever the character actually is, until no coins are left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How danger gets into the search</a:t>
            </a:r>
            <a:endParaRPr lang="en-US" sz="2600" dirty="0"/>
          </a:p>
        </p:txBody>
      </p:sp>
      <p:sp>
        <p:nvSpPr>
          <p:cNvPr id="3" name="Text 0"/>
          <p:cNvSpPr/>
          <p:nvPr>
            <p:ph idx="101" type="body" hasCustomPrompt="1"/>
          </p:nvPr>
        </p:nvSpPr>
        <p:spPr>
          <a:xfrm>
            <a:off x="640080" y="969264"/>
            <a:ext cx="10881360" cy="365760"/>
          </a:xfrm>
          <a:prstGeom prst="rect">
            <a:avLst/>
          </a:prstGeom>
          <a:noFill/>
          <a:ln/>
        </p:spPr>
        <p:txBody>
          <a:bodyPr wrap="square" lIns="0" tIns="0" rIns="0" bIns="0" rtlCol="0" anchor="ctr"/>
          <a:lstStyle/>
          <a:p>
            <a:pPr algn="l" indent="0" marL="0">
              <a:buNone/>
            </a:pPr>
            <a:r>
              <a:rPr lang="en-US" sz="1300" dirty="0">
                <a:solidFill>
                  <a:srgbClr val="6E6C68"/>
                </a:solidFill>
                <a:latin typeface="Arial" pitchFamily="34" charset="0"/>
                <a:ea typeface="Arial" pitchFamily="34" charset="-122"/>
                <a:cs typeface="Arial" pitchFamily="34" charset="-120"/>
              </a:rPr>
              <a:t>Level 22: predicted danger for the next 0.6 s, the A* path and the jump the agent chose</a:t>
            </a:r>
            <a:endParaRPr lang="en-US" sz="1300" dirty="0"/>
          </a:p>
        </p:txBody>
      </p:sp>
      <p:pic>
        <p:nvPicPr>
          <p:cNvPr id="4" name="Image 0" descr="/home/claude/partA/report/fig_danger_map.png">    </p:cNvPr>
          <p:cNvPicPr>
            <a:picLocks noChangeAspect="1"/>
          </p:cNvPicPr>
          <p:nvPr/>
        </p:nvPicPr>
        <p:blipFill>
          <a:blip r:embed="rId1"/>
          <a:stretch>
            <a:fillRect/>
          </a:stretch>
        </p:blipFill>
        <p:spPr>
          <a:xfrm>
            <a:off x="640080" y="1417320"/>
            <a:ext cx="6189785" cy="5029200"/>
          </a:xfrm>
          <a:prstGeom prst="rect">
            <a:avLst/>
          </a:prstGeom>
        </p:spPr>
      </p:pic>
      <p:sp>
        <p:nvSpPr>
          <p:cNvPr id="5" name="Text 2"/>
          <p:cNvSpPr txBox="1"/>
          <p:nvPr/>
        </p:nvSpPr>
        <p:spPr>
          <a:xfrm>
            <a:off x="7040880" y="1600200"/>
            <a:ext cx="4480560"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A1A1A"/>
                </a:solidFill>
                <a:latin typeface="Arial" pitchFamily="34" charset="0"/>
                <a:ea typeface="Arial" pitchFamily="34" charset="-122"/>
                <a:cs typeface="Arial" pitchFamily="34" charset="-120"/>
              </a:rPr>
              <a:t>Dark red cells are where a hazard is predicted to be at some point in the next 0.6 s</a:t>
            </a:r>
            <a:endParaRPr lang="en-US" sz="1500" dirty="0"/>
          </a:p>
          <a:p>
            <a:pPr marL="342900" indent="-342900">
              <a:spcAft>
                <a:spcPts val="800"/>
              </a:spcAft>
              <a:buSzPct val="100000"/>
              <a:buChar char="•"/>
            </a:pPr>
            <a:r>
              <a:rPr lang="en-US" sz="1500" dirty="0">
                <a:solidFill>
                  <a:srgbClr val="1A1A1A"/>
                </a:solidFill>
                <a:latin typeface="Arial" pitchFamily="34" charset="0"/>
                <a:ea typeface="Arial" pitchFamily="34" charset="-122"/>
                <a:cs typeface="Arial" pitchFamily="34" charset="-120"/>
              </a:rPr>
              <a:t>A* goes around them (blue line)</a:t>
            </a:r>
            <a:endParaRPr lang="en-US" sz="1500" dirty="0"/>
          </a:p>
          <a:p>
            <a:pPr marL="342900" indent="-342900">
              <a:spcAft>
                <a:spcPts val="800"/>
              </a:spcAft>
              <a:buSzPct val="100000"/>
              <a:buChar char="•"/>
            </a:pPr>
            <a:r>
              <a:rPr lang="en-US" sz="1500" dirty="0">
                <a:solidFill>
                  <a:srgbClr val="1A1A1A"/>
                </a:solidFill>
                <a:latin typeface="Arial" pitchFamily="34" charset="0"/>
                <a:ea typeface="Arial" pitchFamily="34" charset="-122"/>
                <a:cs typeface="Arial" pitchFamily="34" charset="-120"/>
              </a:rPr>
              <a:t>The chosen jump (black arrow) cuts the corner: each point on the line is checked against where the hazards will be at the moment the character passes, not where they are now</a:t>
            </a:r>
            <a:endParaRPr lang="en-US" sz="1500" dirty="0"/>
          </a:p>
          <a:p>
            <a:pPr marL="342900" indent="-342900">
              <a:spcAft>
                <a:spcPts val="800"/>
              </a:spcAft>
              <a:buSzPct val="100000"/>
              <a:buChar char="•"/>
            </a:pPr>
            <a:r>
              <a:rPr lang="en-US" sz="1500" dirty="0">
                <a:solidFill>
                  <a:srgbClr val="1A1A1A"/>
                </a:solidFill>
                <a:latin typeface="Arial" pitchFamily="34" charset="0"/>
                <a:ea typeface="Arial" pitchFamily="34" charset="-122"/>
                <a:cs typeface="Arial" pitchFamily="34" charset="-120"/>
              </a:rPr>
              <a:t>If nothing is safe, the agent tries 64 nearby points and staying still, and takes the one with most clearance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What is new compared with the greedy agent</a:t>
            </a:r>
            <a:endParaRPr lang="en-US" sz="2600" dirty="0"/>
          </a:p>
        </p:txBody>
      </p:sp>
      <p:sp>
        <p:nvSpPr>
          <p:cNvPr id="3" name="Text 0"/>
          <p:cNvSpPr/>
          <p:nvPr>
            <p:ph idx="101" type="body" hasCustomPrompt="1"/>
          </p:nvPr>
        </p:nvSpPr>
        <p:spPr>
          <a:xfrm>
            <a:off x="640080" y="969264"/>
            <a:ext cx="10881360" cy="365760"/>
          </a:xfrm>
          <a:prstGeom prst="rect">
            <a:avLst/>
          </a:prstGeom>
          <a:noFill/>
          <a:ln/>
        </p:spPr>
        <p:txBody>
          <a:bodyPr wrap="square" lIns="0" tIns="0" rIns="0" bIns="0" rtlCol="0" anchor="ctr"/>
          <a:lstStyle/>
          <a:p>
            <a:pPr algn="l" indent="0" marL="0">
              <a:buNone/>
            </a:pPr>
            <a:r>
              <a:rPr lang="en-US" sz="1300" dirty="0">
                <a:solidFill>
                  <a:srgbClr val="6E6C68"/>
                </a:solidFill>
                <a:latin typeface="Arial" pitchFamily="34" charset="0"/>
                <a:ea typeface="Arial" pitchFamily="34" charset="-122"/>
                <a:cs typeface="Arial" pitchFamily="34" charset="-120"/>
              </a:rPr>
              <a:t>Same game, same move command; only the decision making changed</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914400"/>
        </p:xfrm>
        <a:graphic>
          <a:graphicData uri="http://schemas.openxmlformats.org/drawingml/2006/table">
            <a:tbl>
              <a:tblPr/>
              <a:tblGrid>
                <a:gridCol w="2377440"/>
                <a:gridCol w="4023360"/>
                <a:gridCol w="4480560"/>
              </a:tblGrid>
              <a:tr h="475488">
                <a:tc>
                  <a:txBody>
                    <a:bodyPr/>
                    <a:lstStyle/>
                    <a:p>
                      <a:pPr indent="0" marL="0">
                        <a:buNone/>
                      </a:pP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solidFill>
                      <a:srgbClr val="B01B2E"/>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Original greedy</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solidFill>
                      <a:srgbClr val="B01B2E"/>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Our A* agent</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solidFill>
                      <a:srgbClr val="B01B2E"/>
                    </a:solidFill>
                  </a:tcPr>
                </a:tc>
              </a:tr>
              <a:tr h="475488">
                <a:tc>
                  <a:txBody>
                    <a:bodyPr/>
                    <a:lstStyle/>
                    <a:p>
                      <a:pPr indent="0" marL="0">
                        <a:buNone/>
                      </a:pPr>
                      <a:r>
                        <a:rPr lang="en-US" sz="1400" b="1" dirty="0">
                          <a:solidFill>
                            <a:srgbClr val="1A1A1A"/>
                          </a:solidFill>
                          <a:latin typeface="Arial" pitchFamily="34" charset="0"/>
                          <a:ea typeface="Arial" pitchFamily="34" charset="-122"/>
                          <a:cs typeface="Arial" pitchFamily="34" charset="-120"/>
                        </a:rPr>
                        <a:t>Choosing a coin</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Nearest by Manhattan distance, whole route fixed</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Cheapest path once danger is counted, chosen again every jump</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r h="475488">
                <a:tc>
                  <a:txBody>
                    <a:bodyPr/>
                    <a:lstStyle/>
                    <a:p>
                      <a:pPr indent="0" marL="0">
                        <a:buNone/>
                      </a:pPr>
                      <a:r>
                        <a:rPr lang="en-US" sz="1400" b="1" dirty="0">
                          <a:solidFill>
                            <a:srgbClr val="1A1A1A"/>
                          </a:solidFill>
                          <a:latin typeface="Arial" pitchFamily="34" charset="0"/>
                          <a:ea typeface="Arial" pitchFamily="34" charset="-122"/>
                          <a:cs typeface="Arial" pitchFamily="34" charset="-120"/>
                        </a:rPr>
                        <a:t>Monsters and fires</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Only skip coins within 0.3 when planning</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Predicted 0.6 s ahead and built into every cell's cost</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r h="475488">
                <a:tc>
                  <a:txBody>
                    <a:bodyPr/>
                    <a:lstStyle/>
                    <a:p>
                      <a:pPr indent="0" marL="0">
                        <a:buNone/>
                      </a:pPr>
                      <a:r>
                        <a:rPr lang="en-US" sz="1400" b="1" dirty="0">
                          <a:solidFill>
                            <a:srgbClr val="1A1A1A"/>
                          </a:solidFill>
                          <a:latin typeface="Arial" pitchFamily="34" charset="0"/>
                          <a:ea typeface="Arial" pitchFamily="34" charset="-122"/>
                          <a:cs typeface="Arial" pitchFamily="34" charset="-120"/>
                        </a:rPr>
                        <a:t>Moving</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Straight jumps with no checks</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Only jumps that are clear when the character passes</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r h="475488">
                <a:tc>
                  <a:txBody>
                    <a:bodyPr/>
                    <a:lstStyle/>
                    <a:p>
                      <a:pPr indent="0" marL="0">
                        <a:buNone/>
                      </a:pPr>
                      <a:r>
                        <a:rPr lang="en-US" sz="1400" b="1" dirty="0">
                          <a:solidFill>
                            <a:srgbClr val="1A1A1A"/>
                          </a:solidFill>
                          <a:latin typeface="Arial" pitchFamily="34" charset="0"/>
                          <a:ea typeface="Arial" pitchFamily="34" charset="-122"/>
                          <a:cs typeface="Arial" pitchFamily="34" charset="-120"/>
                        </a:rPr>
                        <a:t>Re-planning</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After the whole route</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Every 0.25 s</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r h="475488">
                <a:tc>
                  <a:txBody>
                    <a:bodyPr/>
                    <a:lstStyle/>
                    <a:p>
                      <a:pPr indent="0" marL="0">
                        <a:buNone/>
                      </a:pPr>
                      <a:r>
                        <a:rPr lang="en-US" sz="1400" b="1" dirty="0">
                          <a:solidFill>
                            <a:srgbClr val="1A1A1A"/>
                          </a:solidFill>
                          <a:latin typeface="Arial" pitchFamily="34" charset="0"/>
                          <a:ea typeface="Arial" pitchFamily="34" charset="-122"/>
                          <a:cs typeface="Arial" pitchFamily="34" charset="-120"/>
                        </a:rPr>
                        <a:t>Planning starts from</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Always (0.1, 0.1)</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The character's real position</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r h="475488">
                <a:tc>
                  <a:txBody>
                    <a:bodyPr/>
                    <a:lstStyle/>
                    <a:p>
                      <a:pPr indent="0" marL="0">
                        <a:buNone/>
                      </a:pPr>
                      <a:r>
                        <a:rPr lang="en-US" sz="1400" b="1" dirty="0">
                          <a:solidFill>
                            <a:srgbClr val="1A1A1A"/>
                          </a:solidFill>
                          <a:latin typeface="Arial" pitchFamily="34" charset="0"/>
                          <a:ea typeface="Arial" pitchFamily="34" charset="-122"/>
                          <a:cs typeface="Arial" pitchFamily="34" charset="-120"/>
                        </a:rPr>
                        <a:t>In danger</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No reaction</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Escape move with the most clearance</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r h="475488">
                <a:tc>
                  <a:txBody>
                    <a:bodyPr/>
                    <a:lstStyle/>
                    <a:p>
                      <a:pPr indent="0" marL="0">
                        <a:buNone/>
                      </a:pPr>
                      <a:r>
                        <a:rPr lang="en-US" sz="1400" b="1" dirty="0">
                          <a:solidFill>
                            <a:srgbClr val="1A1A1A"/>
                          </a:solidFill>
                          <a:latin typeface="Arial" pitchFamily="34" charset="0"/>
                          <a:ea typeface="Arial" pitchFamily="34" charset="-122"/>
                          <a:cs typeface="Arial" pitchFamily="34" charset="-120"/>
                        </a:rPr>
                        <a:t>Search</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Nearest-neighbour heuristic</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Multi-goal A* with a guess that never overestimates</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bl>
          </a:graphicData>
        </a:graphic>
      </p:graphicFrame>
      <p:sp>
        <p:nvSpPr>
          <p:cNvPr id="5" name="Text 2"/>
          <p:cNvSpPr txBox="1"/>
          <p:nvPr/>
        </p:nvSpPr>
        <p:spPr>
          <a:xfrm>
            <a:off x="640080" y="5486400"/>
            <a:ext cx="10881360" cy="594360"/>
          </a:xfrm>
          <a:prstGeom prst="rect">
            <a:avLst/>
          </a:prstGeom>
          <a:solidFill>
            <a:srgbClr val="FAF9F8"/>
          </a:solidFill>
          <a:ln/>
        </p:spPr>
        <p:txBody>
          <a:bodyPr wrap="square" lIns="76200" tIns="152400" rIns="152400" bIns="76200" rtlCol="0" anchor="ctr"/>
          <a:lstStyle/>
          <a:p>
            <a:pPr indent="0" marL="0">
              <a:buNone/>
            </a:pPr>
            <a:r>
              <a:rPr lang="en-US" sz="1400" dirty="0">
                <a:solidFill>
                  <a:srgbClr val="1A1A1A"/>
                </a:solidFill>
                <a:latin typeface="Arial" pitchFamily="34" charset="0"/>
                <a:ea typeface="Arial" pitchFamily="34" charset="-122"/>
                <a:cs typeface="Arial" pitchFamily="34" charset="-120"/>
              </a:rPr>
              <a:t>To keep the test fair, the greedy logic is copied unchanged and every agent moves through the game's own start_char_animation.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Results: 360 episodes in the real game</a:t>
            </a:r>
            <a:endParaRPr lang="en-US" sz="2600" dirty="0"/>
          </a:p>
        </p:txBody>
      </p:sp>
      <p:sp>
        <p:nvSpPr>
          <p:cNvPr id="3" name="Text 0"/>
          <p:cNvSpPr/>
          <p:nvPr>
            <p:ph idx="101" type="body" hasCustomPrompt="1"/>
          </p:nvPr>
        </p:nvSpPr>
        <p:spPr>
          <a:xfrm>
            <a:off x="640080" y="969264"/>
            <a:ext cx="10881360" cy="365760"/>
          </a:xfrm>
          <a:prstGeom prst="rect">
            <a:avLst/>
          </a:prstGeom>
          <a:noFill/>
          <a:ln/>
        </p:spPr>
        <p:txBody>
          <a:bodyPr wrap="square" lIns="0" tIns="0" rIns="0" bIns="0" rtlCol="0" anchor="ctr"/>
          <a:lstStyle/>
          <a:p>
            <a:pPr algn="l" indent="0" marL="0">
              <a:buNone/>
            </a:pPr>
            <a:r>
              <a:rPr lang="en-US" sz="1300" dirty="0">
                <a:solidFill>
                  <a:srgbClr val="6E6C68"/>
                </a:solidFill>
                <a:latin typeface="Arial" pitchFamily="34" charset="0"/>
                <a:ea typeface="Arial" pitchFamily="34" charset="-122"/>
                <a:cs typeface="Arial" pitchFamily="34" charset="-120"/>
              </a:rPr>
              <a:t>3 agents × 24 levels × 5 runs, random coin layout every run, 60 s limit</a:t>
            </a:r>
            <a:endParaRPr lang="en-US" sz="1300" dirty="0"/>
          </a:p>
        </p:txBody>
      </p:sp>
      <p:sp>
        <p:nvSpPr>
          <p:cNvPr id="4" name="Text 2"/>
          <p:cNvSpPr txBox="1"/>
          <p:nvPr/>
        </p:nvSpPr>
        <p:spPr>
          <a:xfrm>
            <a:off x="640080" y="1508760"/>
            <a:ext cx="3474720" cy="822960"/>
          </a:xfrm>
          <a:prstGeom prst="rect">
            <a:avLst/>
          </a:prstGeom>
          <a:noFill/>
          <a:ln/>
        </p:spPr>
        <p:txBody>
          <a:bodyPr wrap="square" lIns="0" tIns="0" rIns="0" bIns="0" rtlCol="0" anchor="ctr"/>
          <a:lstStyle/>
          <a:p>
            <a:pPr indent="0" marL="0">
              <a:buNone/>
            </a:pPr>
            <a:r>
              <a:rPr lang="en-US" sz="4000" b="1" dirty="0">
                <a:solidFill>
                  <a:srgbClr val="B01B2E"/>
                </a:solidFill>
                <a:latin typeface="Arial" pitchFamily="34" charset="0"/>
                <a:ea typeface="Arial" pitchFamily="34" charset="-122"/>
                <a:cs typeface="Arial" pitchFamily="34" charset="-120"/>
              </a:rPr>
              <a:t>120/120</a:t>
            </a:r>
            <a:endParaRPr lang="en-US" sz="4000" dirty="0"/>
          </a:p>
        </p:txBody>
      </p:sp>
      <p:sp>
        <p:nvSpPr>
          <p:cNvPr id="5" name="Text 3"/>
          <p:cNvSpPr txBox="1"/>
          <p:nvPr/>
        </p:nvSpPr>
        <p:spPr>
          <a:xfrm>
            <a:off x="640080" y="2331720"/>
            <a:ext cx="3474720" cy="548640"/>
          </a:xfrm>
          <a:prstGeom prst="rect">
            <a:avLst/>
          </a:prstGeom>
          <a:noFill/>
          <a:ln/>
        </p:spPr>
        <p:txBody>
          <a:bodyPr wrap="square" lIns="0" tIns="0" rIns="0" bIns="0" rtlCol="0" anchor="t"/>
          <a:lstStyle/>
          <a:p>
            <a:pPr indent="0" marL="0">
              <a:buNone/>
            </a:pPr>
            <a:r>
              <a:rPr lang="en-US" sz="1300" dirty="0">
                <a:solidFill>
                  <a:srgbClr val="6E6C68"/>
                </a:solidFill>
                <a:latin typeface="Arial" pitchFamily="34" charset="0"/>
                <a:ea typeface="Arial" pitchFamily="34" charset="-122"/>
                <a:cs typeface="Arial" pitchFamily="34" charset="-120"/>
              </a:rPr>
              <a:t>runs won by A*</a:t>
            </a:r>
            <a:endParaRPr lang="en-US" sz="1300" dirty="0"/>
          </a:p>
        </p:txBody>
      </p:sp>
      <p:sp>
        <p:nvSpPr>
          <p:cNvPr id="6" name="Text 4"/>
          <p:cNvSpPr txBox="1"/>
          <p:nvPr/>
        </p:nvSpPr>
        <p:spPr>
          <a:xfrm>
            <a:off x="4343400" y="1508760"/>
            <a:ext cx="3474720" cy="822960"/>
          </a:xfrm>
          <a:prstGeom prst="rect">
            <a:avLst/>
          </a:prstGeom>
          <a:noFill/>
          <a:ln/>
        </p:spPr>
        <p:txBody>
          <a:bodyPr wrap="square" lIns="0" tIns="0" rIns="0" bIns="0" rtlCol="0" anchor="ctr"/>
          <a:lstStyle/>
          <a:p>
            <a:pPr indent="0" marL="0">
              <a:buNone/>
            </a:pPr>
            <a:r>
              <a:rPr lang="en-US" sz="4000" b="1" dirty="0">
                <a:solidFill>
                  <a:srgbClr val="6E6C68"/>
                </a:solidFill>
                <a:latin typeface="Arial" pitchFamily="34" charset="0"/>
                <a:ea typeface="Arial" pitchFamily="34" charset="-122"/>
                <a:cs typeface="Arial" pitchFamily="34" charset="-120"/>
              </a:rPr>
              <a:t>52/59</a:t>
            </a:r>
            <a:endParaRPr lang="en-US" sz="4000" dirty="0"/>
          </a:p>
        </p:txBody>
      </p:sp>
      <p:sp>
        <p:nvSpPr>
          <p:cNvPr id="7" name="Text 5"/>
          <p:cNvSpPr txBox="1"/>
          <p:nvPr/>
        </p:nvSpPr>
        <p:spPr>
          <a:xfrm>
            <a:off x="4343400" y="2331720"/>
            <a:ext cx="3474720" cy="548640"/>
          </a:xfrm>
          <a:prstGeom prst="rect">
            <a:avLst/>
          </a:prstGeom>
          <a:noFill/>
          <a:ln/>
        </p:spPr>
        <p:txBody>
          <a:bodyPr wrap="square" lIns="0" tIns="0" rIns="0" bIns="0" rtlCol="0" anchor="t"/>
          <a:lstStyle/>
          <a:p>
            <a:pPr indent="0" marL="0">
              <a:buNone/>
            </a:pPr>
            <a:r>
              <a:rPr lang="en-US" sz="1300" dirty="0">
                <a:solidFill>
                  <a:srgbClr val="6E6C68"/>
                </a:solidFill>
                <a:latin typeface="Arial" pitchFamily="34" charset="0"/>
                <a:ea typeface="Arial" pitchFamily="34" charset="-122"/>
                <a:cs typeface="Arial" pitchFamily="34" charset="-120"/>
              </a:rPr>
              <a:t>runs won by greedy</a:t>
            </a:r>
            <a:endParaRPr lang="en-US" sz="1300" dirty="0"/>
          </a:p>
        </p:txBody>
      </p:sp>
      <p:sp>
        <p:nvSpPr>
          <p:cNvPr id="8" name="Text 6"/>
          <p:cNvSpPr txBox="1"/>
          <p:nvPr/>
        </p:nvSpPr>
        <p:spPr>
          <a:xfrm>
            <a:off x="8046720" y="1508760"/>
            <a:ext cx="3474720" cy="822960"/>
          </a:xfrm>
          <a:prstGeom prst="rect">
            <a:avLst/>
          </a:prstGeom>
          <a:noFill/>
          <a:ln/>
        </p:spPr>
        <p:txBody>
          <a:bodyPr wrap="square" lIns="0" tIns="0" rIns="0" bIns="0" rtlCol="0" anchor="ctr"/>
          <a:lstStyle/>
          <a:p>
            <a:pPr indent="0" marL="0">
              <a:buNone/>
            </a:pPr>
            <a:r>
              <a:rPr lang="en-US" sz="4000" b="1" dirty="0">
                <a:solidFill>
                  <a:srgbClr val="6E6C68"/>
                </a:solidFill>
                <a:latin typeface="Arial" pitchFamily="34" charset="0"/>
                <a:ea typeface="Arial" pitchFamily="34" charset="-122"/>
                <a:cs typeface="Arial" pitchFamily="34" charset="-120"/>
              </a:rPr>
              <a:t>99/120</a:t>
            </a:r>
            <a:endParaRPr lang="en-US" sz="4000" dirty="0"/>
          </a:p>
        </p:txBody>
      </p:sp>
      <p:sp>
        <p:nvSpPr>
          <p:cNvPr id="9" name="Text 7"/>
          <p:cNvSpPr txBox="1"/>
          <p:nvPr/>
        </p:nvSpPr>
        <p:spPr>
          <a:xfrm>
            <a:off x="8046720" y="2331720"/>
            <a:ext cx="3474720" cy="548640"/>
          </a:xfrm>
          <a:prstGeom prst="rect">
            <a:avLst/>
          </a:prstGeom>
          <a:noFill/>
          <a:ln/>
        </p:spPr>
        <p:txBody>
          <a:bodyPr wrap="square" lIns="0" tIns="0" rIns="0" bIns="0" rtlCol="0" anchor="t"/>
          <a:lstStyle/>
          <a:p>
            <a:pPr indent="0" marL="0">
              <a:buNone/>
            </a:pPr>
            <a:r>
              <a:rPr lang="en-US" sz="1300" dirty="0">
                <a:solidFill>
                  <a:srgbClr val="6E6C68"/>
                </a:solidFill>
                <a:latin typeface="Arial" pitchFamily="34" charset="0"/>
                <a:ea typeface="Arial" pitchFamily="34" charset="-122"/>
                <a:cs typeface="Arial" pitchFamily="34" charset="-120"/>
              </a:rPr>
              <a:t>runs won by the GA</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3063240"/>
          <a:ext cx="10881360" cy="914400"/>
        </p:xfrm>
        <a:graphic>
          <a:graphicData uri="http://schemas.openxmlformats.org/drawingml/2006/table">
            <a:tbl>
              <a:tblPr/>
              <a:tblGrid>
                <a:gridCol w="4572000"/>
                <a:gridCol w="2103120"/>
                <a:gridCol w="2103120"/>
                <a:gridCol w="2103120"/>
              </a:tblGrid>
              <a:tr h="384048">
                <a:tc>
                  <a:txBody>
                    <a:bodyPr/>
                    <a:lstStyle/>
                    <a:p>
                      <a:pPr indent="0" marL="0">
                        <a:buNone/>
                      </a:pP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solidFill>
                      <a:srgbClr val="B01B2E"/>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Greedy</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solidFill>
                      <a:srgbClr val="B01B2E"/>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GA</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solidFill>
                      <a:srgbClr val="B01B2E"/>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A* (ours)</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solidFill>
                      <a:srgbClr val="B01B2E"/>
                    </a:solidFill>
                  </a:tcPr>
                </a:tc>
              </a:tr>
              <a:tr h="384048">
                <a:tc>
                  <a:txBody>
                    <a:bodyPr/>
                    <a:lstStyle/>
                    <a:p>
                      <a:pPr indent="0" marL="0">
                        <a:buNone/>
                      </a:pPr>
                      <a:r>
                        <a:rPr lang="en-US" sz="1300" dirty="0">
                          <a:solidFill>
                            <a:srgbClr val="1A1A1A"/>
                          </a:solidFill>
                          <a:latin typeface="Arial" pitchFamily="34" charset="0"/>
                          <a:ea typeface="Arial" pitchFamily="34" charset="-122"/>
                          <a:cs typeface="Arial" pitchFamily="34" charset="-120"/>
                        </a:rPr>
                        <a:t>Levels completed (3+ wins of 5)</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12 / 24</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21 / 24</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24 / 24</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r h="384048">
                <a:tc>
                  <a:txBody>
                    <a:bodyPr/>
                    <a:lstStyle/>
                    <a:p>
                      <a:pPr indent="0" marL="0">
                        <a:buNone/>
                      </a:pPr>
                      <a:r>
                        <a:rPr lang="en-US" sz="1300" dirty="0">
                          <a:solidFill>
                            <a:srgbClr val="1A1A1A"/>
                          </a:solidFill>
                          <a:latin typeface="Arial" pitchFamily="34" charset="0"/>
                          <a:ea typeface="Arial" pitchFamily="34" charset="-122"/>
                          <a:cs typeface="Arial" pitchFamily="34" charset="-120"/>
                        </a:rPr>
                        <a:t>Mean time on the 12 levels all agents won (s)</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5.39</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10.85</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4.41</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r h="384048">
                <a:tc>
                  <a:txBody>
                    <a:bodyPr/>
                    <a:lstStyle/>
                    <a:p>
                      <a:pPr indent="0" marL="0">
                        <a:buNone/>
                      </a:pPr>
                      <a:r>
                        <a:rPr lang="en-US" sz="1300" dirty="0">
                          <a:solidFill>
                            <a:srgbClr val="1A1A1A"/>
                          </a:solidFill>
                          <a:latin typeface="Arial" pitchFamily="34" charset="0"/>
                          <a:ea typeface="Arial" pitchFamily="34" charset="-122"/>
                          <a:cs typeface="Arial" pitchFamily="34" charset="-120"/>
                        </a:rPr>
                        <a:t>Life left (%)</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64.6</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57.2</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99.7</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r h="384048">
                <a:tc>
                  <a:txBody>
                    <a:bodyPr/>
                    <a:lstStyle/>
                    <a:p>
                      <a:pPr indent="0" marL="0">
                        <a:buNone/>
                      </a:pPr>
                      <a:r>
                        <a:rPr lang="en-US" sz="1300" dirty="0">
                          <a:solidFill>
                            <a:srgbClr val="1A1A1A"/>
                          </a:solidFill>
                          <a:latin typeface="Arial" pitchFamily="34" charset="0"/>
                          <a:ea typeface="Arial" pitchFamily="34" charset="-122"/>
                          <a:cs typeface="Arial" pitchFamily="34" charset="-120"/>
                        </a:rPr>
                        <a:t>Deaths</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7</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21</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r h="384048">
                <a:tc>
                  <a:txBody>
                    <a:bodyPr/>
                    <a:lstStyle/>
                    <a:p>
                      <a:pPr indent="0" marL="0">
                        <a:buNone/>
                      </a:pPr>
                      <a:r>
                        <a:rPr lang="en-US" sz="1300" dirty="0">
                          <a:solidFill>
                            <a:srgbClr val="1A1A1A"/>
                          </a:solidFill>
                          <a:latin typeface="Arial" pitchFamily="34" charset="0"/>
                          <a:ea typeface="Arial" pitchFamily="34" charset="-122"/>
                          <a:cs typeface="Arial" pitchFamily="34" charset="-120"/>
                        </a:rPr>
                        <a:t>RACR: coins per second × life left</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1.60</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0.81</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3.10</a:t>
                      </a:r>
                      <a:endParaRPr lang="en-US" sz="13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bl>
          </a:graphicData>
        </a:graphic>
      </p:graphicFrame>
      <p:sp>
        <p:nvSpPr>
          <p:cNvPr id="11" name="Text 8"/>
          <p:cNvSpPr txBox="1"/>
          <p:nvPr/>
        </p:nvSpPr>
        <p:spPr>
          <a:xfrm>
            <a:off x="640080" y="5577840"/>
            <a:ext cx="10881360" cy="594360"/>
          </a:xfrm>
          <a:prstGeom prst="rect">
            <a:avLst/>
          </a:prstGeom>
          <a:solidFill>
            <a:srgbClr val="FAF9F8"/>
          </a:solidFill>
          <a:ln/>
        </p:spPr>
        <p:txBody>
          <a:bodyPr wrap="square" lIns="76200" tIns="152400" rIns="152400" bIns="76200" rtlCol="0" anchor="ctr"/>
          <a:lstStyle/>
          <a:p>
            <a:pPr indent="0" marL="0">
              <a:buNone/>
            </a:pPr>
            <a:r>
              <a:rPr lang="en-US" sz="1400" dirty="0">
                <a:solidFill>
                  <a:srgbClr val="1A1A1A"/>
                </a:solidFill>
                <a:latin typeface="Arial" pitchFamily="34" charset="0"/>
                <a:ea typeface="Arial" pitchFamily="34" charset="-122"/>
                <a:cs typeface="Arial" pitchFamily="34" charset="-120"/>
              </a:rPr>
              <a:t>RACR is our extra metric: it rewards being fast and unhurt in one number, and still gives credit for coins collected before a death.</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Level by level</a:t>
            </a:r>
            <a:endParaRPr lang="en-US" sz="2600" dirty="0"/>
          </a:p>
        </p:txBody>
      </p:sp>
      <p:sp>
        <p:nvSpPr>
          <p:cNvPr id="3" name="Text 0"/>
          <p:cNvSpPr/>
          <p:nvPr>
            <p:ph idx="101" type="body" hasCustomPrompt="1"/>
          </p:nvPr>
        </p:nvSpPr>
        <p:spPr>
          <a:xfrm>
            <a:off x="640080" y="969264"/>
            <a:ext cx="10881360" cy="365760"/>
          </a:xfrm>
          <a:prstGeom prst="rect">
            <a:avLst/>
          </a:prstGeom>
          <a:noFill/>
          <a:ln/>
        </p:spPr>
        <p:txBody>
          <a:bodyPr wrap="square" lIns="0" tIns="0" rIns="0" bIns="0" rtlCol="0" anchor="ctr"/>
          <a:lstStyle/>
          <a:p>
            <a:pPr algn="l" indent="0" marL="0">
              <a:buNone/>
            </a:pPr>
            <a:r>
              <a:rPr lang="en-US" sz="1300" dirty="0">
                <a:solidFill>
                  <a:srgbClr val="6E6C68"/>
                </a:solidFill>
                <a:latin typeface="Arial" pitchFamily="34" charset="0"/>
                <a:ea typeface="Arial" pitchFamily="34" charset="-122"/>
                <a:cs typeface="Arial" pitchFamily="34" charset="-120"/>
              </a:rPr>
              <a:t>Success rate on each level, 5 runs per agent</a:t>
            </a:r>
            <a:endParaRPr lang="en-US" sz="1300" dirty="0"/>
          </a:p>
        </p:txBody>
      </p:sp>
      <p:graphicFrame>
        <p:nvGraphicFramePr>
          <p:cNvPr id="4" name="Chart 0" descr=""/>
          <p:cNvGraphicFramePr/>
          <p:nvPr/>
        </p:nvGraphicFramePr>
        <p:xfrm>
          <a:off x="640080" y="1417320"/>
          <a:ext cx="10881360" cy="35661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40080" y="5212080"/>
            <a:ext cx="10881360" cy="914400"/>
          </a:xfrm>
          <a:prstGeom prst="rect">
            <a:avLst/>
          </a:prstGeom>
          <a:solidFill>
            <a:srgbClr val="FAF9F8"/>
          </a:solidFill>
          <a:ln/>
        </p:spPr>
        <p:txBody>
          <a:bodyPr wrap="square" lIns="76200" tIns="152400" rIns="152400" bIns="76200" rtlCol="0" anchor="ctr"/>
          <a:lstStyle/>
          <a:p>
            <a:pPr indent="0" marL="0">
              <a:buNone/>
            </a:pPr>
            <a:r>
              <a:rPr lang="en-US" sz="1400" dirty="0">
                <a:solidFill>
                  <a:srgbClr val="1A1A1A"/>
                </a:solidFill>
                <a:latin typeface="Arial" pitchFamily="34" charset="0"/>
                <a:ea typeface="Arial" pitchFamily="34" charset="-122"/>
                <a:cs typeface="Arial" pitchFamily="34" charset="-120"/>
              </a:rPr>
              <a:t>Greedy fails most on levels 7, 8 and 15 and the GA on levels 13, 18, 21 and 24; every one of their failures was a death. A* won 120 of 120 runs.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Faster as well as safer</a:t>
            </a:r>
            <a:endParaRPr lang="en-US" sz="2600" dirty="0"/>
          </a:p>
        </p:txBody>
      </p:sp>
      <p:sp>
        <p:nvSpPr>
          <p:cNvPr id="3" name="Text 0"/>
          <p:cNvSpPr/>
          <p:nvPr>
            <p:ph idx="101" type="body" hasCustomPrompt="1"/>
          </p:nvPr>
        </p:nvSpPr>
        <p:spPr>
          <a:xfrm>
            <a:off x="640080" y="969264"/>
            <a:ext cx="10881360" cy="365760"/>
          </a:xfrm>
          <a:prstGeom prst="rect">
            <a:avLst/>
          </a:prstGeom>
          <a:noFill/>
          <a:ln/>
        </p:spPr>
        <p:txBody>
          <a:bodyPr wrap="square" lIns="0" tIns="0" rIns="0" bIns="0" rtlCol="0" anchor="ctr"/>
          <a:lstStyle/>
          <a:p>
            <a:pPr algn="l" indent="0" marL="0">
              <a:buNone/>
            </a:pPr>
            <a:r>
              <a:rPr lang="en-US" sz="1300" dirty="0">
                <a:solidFill>
                  <a:srgbClr val="6E6C68"/>
                </a:solidFill>
                <a:latin typeface="Arial" pitchFamily="34" charset="0"/>
                <a:ea typeface="Arial" pitchFamily="34" charset="-122"/>
                <a:cs typeface="Arial" pitchFamily="34" charset="-120"/>
              </a:rPr>
              <a:t>Mean time to collect all coins on each level, successful runs only</a:t>
            </a:r>
            <a:endParaRPr lang="en-US" sz="1300" dirty="0"/>
          </a:p>
        </p:txBody>
      </p:sp>
      <p:graphicFrame>
        <p:nvGraphicFramePr>
          <p:cNvPr id="4" name="Chart 0" descr=""/>
          <p:cNvGraphicFramePr/>
          <p:nvPr/>
        </p:nvGraphicFramePr>
        <p:xfrm>
          <a:off x="640080" y="141732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955280" y="1600200"/>
            <a:ext cx="3566160" cy="4206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A*: 4.41 s on the 12 levels all agents won</a:t>
            </a:r>
            <a:endParaRPr lang="en-US" sz="1400" dirty="0"/>
          </a:p>
          <a:p>
            <a:pPr marL="342900" indent="-3429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Greedy: 5.39 s, GA: 10.85 s</a:t>
            </a:r>
            <a:endParaRPr lang="en-US" sz="1400" dirty="0"/>
          </a:p>
          <a:p>
            <a:pPr marL="342900" indent="-3429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A* hit a hazard for 0.1 frames per run; greedy 9.3, GA 12.3</a:t>
            </a:r>
            <a:endParaRPr lang="en-US" sz="1400" dirty="0"/>
          </a:p>
          <a:p>
            <a:pPr marL="342900" indent="-3429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Part of the speed-up is rhythm: A* moves every 0.25 s, greedy waits 0.4 s per jump as written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566928"/>
          </a:xfrm>
          <a:prstGeom prst="rect">
            <a:avLst/>
          </a:prstGeom>
          <a:noFill/>
          <a:ln/>
        </p:spPr>
        <p:txBody>
          <a:bodyPr wrap="square" lIns="0" tIns="0" rIns="0" bIns="0"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Limitations and what we would do next</a:t>
            </a:r>
            <a:endParaRPr lang="en-US" sz="2600" dirty="0"/>
          </a:p>
        </p:txBody>
      </p:sp>
      <p:sp>
        <p:nvSpPr>
          <p:cNvPr id="3" name="Text 0"/>
          <p:cNvSpPr/>
          <p:nvPr>
            <p:ph idx="101" type="body" hasCustomPrompt="1"/>
          </p:nvPr>
        </p:nvSpPr>
        <p:spPr>
          <a:xfrm>
            <a:off x="640080" y="969264"/>
            <a:ext cx="10881360" cy="365760"/>
          </a:xfrm>
          <a:prstGeom prst="rect">
            <a:avLst/>
          </a:prstGeom>
          <a:noFill/>
          <a:ln/>
        </p:spPr>
        <p:txBody>
          <a:bodyPr wrap="square" lIns="0" tIns="0" rIns="0" bIns="0" rtlCol="0" anchor="ctr"/>
          <a:lstStyle/>
          <a:p>
            <a:pPr algn="l" indent="0" marL="0">
              <a:buNone/>
            </a:pPr>
            <a:r>
              <a:rPr lang="en-US" sz="1300" dirty="0">
                <a:solidFill>
                  <a:srgbClr val="6E6C68"/>
                </a:solidFill>
                <a:latin typeface="Arial" pitchFamily="34" charset="0"/>
                <a:ea typeface="Arial" pitchFamily="34" charset="-122"/>
                <a:cs typeface="Arial" pitchFamily="34" charset="-120"/>
              </a:rPr>
              <a:t>Proposed, not implemented</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914400"/>
        </p:xfrm>
        <a:graphic>
          <a:graphicData uri="http://schemas.openxmlformats.org/drawingml/2006/table">
            <a:tbl>
              <a:tblPr/>
              <a:tblGrid>
                <a:gridCol w="2743200"/>
                <a:gridCol w="8138160"/>
              </a:tblGrid>
              <a:tr h="658368">
                <a:tc>
                  <a:txBody>
                    <a:bodyPr/>
                    <a:lstStyle/>
                    <a:p>
                      <a:pPr indent="0" marL="0">
                        <a:buNone/>
                      </a:pPr>
                      <a:r>
                        <a:rPr lang="en-US" sz="1400" b="1" dirty="0">
                          <a:solidFill>
                            <a:srgbClr val="FFFFFF"/>
                          </a:solidFill>
                          <a:latin typeface="Arial" pitchFamily="34" charset="0"/>
                          <a:ea typeface="Arial" pitchFamily="34" charset="-122"/>
                          <a:cs typeface="Arial" pitchFamily="34" charset="-120"/>
                        </a:rPr>
                        <a:t>Idea</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solidFill>
                      <a:srgbClr val="B01B2E"/>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Why it should help</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solidFill>
                      <a:srgbClr val="B01B2E"/>
                    </a:solidFill>
                  </a:tcPr>
                </a:tc>
              </a:tr>
              <a:tr h="658368">
                <a:tc>
                  <a:txBody>
                    <a:bodyPr/>
                    <a:lstStyle/>
                    <a:p>
                      <a:pPr indent="0" marL="0">
                        <a:buNone/>
                      </a:pPr>
                      <a:r>
                        <a:rPr lang="en-US" sz="1400" b="1" dirty="0">
                          <a:solidFill>
                            <a:srgbClr val="1A1A1A"/>
                          </a:solidFill>
                          <a:latin typeface="Arial" pitchFamily="34" charset="0"/>
                          <a:ea typeface="Arial" pitchFamily="34" charset="-122"/>
                          <a:cs typeface="Arial" pitchFamily="34" charset="-120"/>
                        </a:rPr>
                        <a:t>Hybrid GA + A*</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GA evolves the order of the coins (a permutation); A* plans each safe leg and its path costs become the GA's fitness. Fixes stranded coins on 18-25 coin levels</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r h="658368">
                <a:tc>
                  <a:txBody>
                    <a:bodyPr/>
                    <a:lstStyle/>
                    <a:p>
                      <a:pPr indent="0" marL="0">
                        <a:buNone/>
                      </a:pPr>
                      <a:r>
                        <a:rPr lang="en-US" sz="1400" b="1" dirty="0">
                          <a:solidFill>
                            <a:srgbClr val="1A1A1A"/>
                          </a:solidFill>
                          <a:latin typeface="Arial" pitchFamily="34" charset="0"/>
                          <a:ea typeface="Arial" pitchFamily="34" charset="-122"/>
                          <a:cs typeface="Arial" pitchFamily="34" charset="-120"/>
                        </a:rPr>
                        <a:t>GA to tune A*</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Our danger weight, margins and look-ahead were set by hand; a GA could search them per level type</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r h="658368">
                <a:tc>
                  <a:txBody>
                    <a:bodyPr/>
                    <a:lstStyle/>
                    <a:p>
                      <a:pPr indent="0" marL="0">
                        <a:buNone/>
                      </a:pPr>
                      <a:r>
                        <a:rPr lang="en-US" sz="1400" b="1" dirty="0">
                          <a:solidFill>
                            <a:srgbClr val="1A1A1A"/>
                          </a:solidFill>
                          <a:latin typeface="Arial" pitchFamily="34" charset="0"/>
                          <a:ea typeface="Arial" pitchFamily="34" charset="-122"/>
                          <a:cs typeface="Arial" pitchFamily="34" charset="-120"/>
                        </a:rPr>
                        <a:t>Markov model of monsters</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Lecture 8: a belief over where each monster is heading, updated every frame, gives hit probabilities per cell</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r h="658368">
                <a:tc>
                  <a:txBody>
                    <a:bodyPr/>
                    <a:lstStyle/>
                    <a:p>
                      <a:pPr indent="0" marL="0">
                        <a:buNone/>
                      </a:pPr>
                      <a:r>
                        <a:rPr lang="en-US" sz="1400" b="1" dirty="0">
                          <a:solidFill>
                            <a:srgbClr val="1A1A1A"/>
                          </a:solidFill>
                          <a:latin typeface="Arial" pitchFamily="34" charset="0"/>
                          <a:ea typeface="Arial" pitchFamily="34" charset="-122"/>
                          <a:cs typeface="Arial" pitchFamily="34" charset="-120"/>
                        </a:rPr>
                        <a:t>Expectimax look-ahead</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Lecture 6: monsters are random, not adversaries, so plan for the average case over the next few jumps</a:t>
                      </a:r>
                      <a:endParaRPr lang="en-US" sz="1400" dirty="0">
                        <a:latin typeface="Arial" charset="0"/>
                        <a:ea typeface="Arial" charset="0"/>
                        <a:cs typeface="Arial" charset="0"/>
                      </a:endParaRPr>
                    </a:p>
                  </a:txBody>
                  <a:tcPr marL="76200" marR="76200" marT="38100" marB="38100" anchor="ctr">
                    <a:lnL w="9525" cap="flat" cmpd="sng" algn="ctr">
                      <a:solidFill>
                        <a:srgbClr val="D8D6D0"/>
                      </a:solidFill>
                      <a:prstDash val="solid"/>
                      <a:round/>
                      <a:headEnd type="none" w="med" len="med"/>
                      <a:tailEnd type="none" w="med" len="med"/>
                    </a:lnL>
                    <a:lnR w="9525" cap="flat" cmpd="sng" algn="ctr">
                      <a:solidFill>
                        <a:srgbClr val="D8D6D0"/>
                      </a:solidFill>
                      <a:prstDash val="solid"/>
                      <a:round/>
                      <a:headEnd type="none" w="med" len="med"/>
                      <a:tailEnd type="none" w="med" len="med"/>
                    </a:lnR>
                    <a:lnT w="9525" cap="flat" cmpd="sng" algn="ctr">
                      <a:solidFill>
                        <a:srgbClr val="D8D6D0"/>
                      </a:solidFill>
                      <a:prstDash val="solid"/>
                      <a:round/>
                      <a:headEnd type="none" w="med" len="med"/>
                      <a:tailEnd type="none" w="med" len="med"/>
                    </a:lnT>
                    <a:lnB w="9525" cap="flat" cmpd="sng" algn="ctr">
                      <a:solidFill>
                        <a:srgbClr val="D8D6D0"/>
                      </a:solidFill>
                      <a:prstDash val="solid"/>
                      <a:round/>
                      <a:headEnd type="none" w="med" len="med"/>
                      <a:tailEnd type="none" w="med" len="med"/>
                    </a:lnB>
                  </a:tcPr>
                </a:tc>
              </a:tr>
            </a:tbl>
          </a:graphicData>
        </a:graphic>
      </p:graphicFrame>
      <p:sp>
        <p:nvSpPr>
          <p:cNvPr id="5" name="Text 2"/>
          <p:cNvSpPr txBox="1"/>
          <p:nvPr/>
        </p:nvSpPr>
        <p:spPr>
          <a:xfrm>
            <a:off x="640080" y="5120640"/>
            <a:ext cx="10881360" cy="822960"/>
          </a:xfrm>
          <a:prstGeom prst="rect">
            <a:avLst/>
          </a:prstGeom>
          <a:solidFill>
            <a:srgbClr val="FAF9F8"/>
          </a:solidFill>
          <a:ln/>
        </p:spPr>
        <p:txBody>
          <a:bodyPr wrap="square" lIns="76200" tIns="152400" rIns="152400" bIns="76200" rtlCol="0" anchor="ctr"/>
          <a:lstStyle/>
          <a:p>
            <a:pPr indent="0" marL="0">
              <a:buNone/>
            </a:pPr>
            <a:r>
              <a:rPr lang="en-US" sz="1400" dirty="0">
                <a:solidFill>
                  <a:srgbClr val="1A1A1A"/>
                </a:solidFill>
                <a:latin typeface="Arial" pitchFamily="34" charset="0"/>
                <a:ea typeface="Arial" pitchFamily="34" charset="-122"/>
                <a:cs typeface="Arial" pitchFamily="34" charset="-120"/>
              </a:rPr>
              <a:t>Limitations: one laptop, 5 runs per level (a level's rate moves in 20% steps), A* settings tuned in our simulator, and the GA is the tutorial GA, not one tuned for this game.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COMP6009 Assignment Part A</dc:title>
  <dc:subject>PptxGenJS Presentation</dc:subject>
  <dc:creator>Colombo-group-08</dc:creator>
  <cp:lastModifiedBy>Colombo-group-08</cp:lastModifiedBy>
  <cp:revision>1</cp:revision>
  <dcterms:created xsi:type="dcterms:W3CDTF">2026-10-21T16:34:56Z</dcterms:created>
  <dcterms:modified xsi:type="dcterms:W3CDTF">2026-10-21T16:34:56Z</dcterms:modified>
</cp:coreProperties>
</file>