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Greedy</c:v>
                </c:pt>
              </c:strCache>
            </c:strRef>
          </c:tx>
          <c:spPr>
            <a:solidFill>
              <a:srgbClr val="A6A6A6"/>
            </a:solidFill>
            <a:effectLst/>
          </c:spPr>
          <c:invertIfNegative val="0"/>
          <c:cat>
            <c:strRef>
              <c:f>Sheet1!$A$2:$A$25</c:f>
              <c:strCache>
                <c:ptCount val="2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60</c:v>
                </c:pt>
                <c:pt idx="7">
                  <c:v>60</c:v>
                </c:pt>
                <c:pt idx="8">
                  <c:v>100</c:v>
                </c:pt>
                <c:pt idx="9">
                  <c:v>100</c:v>
                </c:pt>
                <c:pt idx="10">
                  <c:v>80</c:v>
                </c:pt>
                <c:pt idx="11">
                  <c:v>80</c:v>
                </c:pt>
                <c:pt idx="12">
                  <c:v>100</c:v>
                </c:pt>
                <c:pt idx="13">
                  <c:v>100</c:v>
                </c:pt>
                <c:pt idx="14">
                  <c:v>60</c:v>
                </c:pt>
                <c:pt idx="15">
                  <c:v>80</c:v>
                </c:pt>
                <c:pt idx="16">
                  <c:v>100</c:v>
                </c:pt>
                <c:pt idx="17">
                  <c:v>40</c:v>
                </c:pt>
                <c:pt idx="18">
                  <c:v>100</c:v>
                </c:pt>
                <c:pt idx="19">
                  <c:v>60</c:v>
                </c:pt>
                <c:pt idx="20">
                  <c:v>60</c:v>
                </c:pt>
                <c:pt idx="21">
                  <c:v>60</c:v>
                </c:pt>
                <c:pt idx="22">
                  <c:v>40</c:v>
                </c:pt>
                <c:pt idx="23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BA-4902-B692-A865D411DBD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Genetic algorithm</c:v>
                </c:pt>
              </c:strCache>
            </c:strRef>
          </c:tx>
          <c:spPr>
            <a:solidFill>
              <a:srgbClr val="5F5E5A"/>
            </a:solidFill>
            <a:effectLst/>
          </c:spPr>
          <c:invertIfNegative val="0"/>
          <c:cat>
            <c:strRef>
              <c:f>Sheet1!$A$2:$A$25</c:f>
              <c:strCache>
                <c:ptCount val="2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100</c:v>
                </c:pt>
                <c:pt idx="1">
                  <c:v>100</c:v>
                </c:pt>
                <c:pt idx="2">
                  <c:v>80</c:v>
                </c:pt>
                <c:pt idx="3">
                  <c:v>100</c:v>
                </c:pt>
                <c:pt idx="4">
                  <c:v>100</c:v>
                </c:pt>
                <c:pt idx="5">
                  <c:v>80</c:v>
                </c:pt>
                <c:pt idx="6">
                  <c:v>80</c:v>
                </c:pt>
                <c:pt idx="7">
                  <c:v>100</c:v>
                </c:pt>
                <c:pt idx="8">
                  <c:v>100</c:v>
                </c:pt>
                <c:pt idx="9">
                  <c:v>80</c:v>
                </c:pt>
                <c:pt idx="10">
                  <c:v>100</c:v>
                </c:pt>
                <c:pt idx="11">
                  <c:v>100</c:v>
                </c:pt>
                <c:pt idx="12">
                  <c:v>60</c:v>
                </c:pt>
                <c:pt idx="13">
                  <c:v>100</c:v>
                </c:pt>
                <c:pt idx="14">
                  <c:v>100</c:v>
                </c:pt>
                <c:pt idx="15">
                  <c:v>60</c:v>
                </c:pt>
                <c:pt idx="16">
                  <c:v>100</c:v>
                </c:pt>
                <c:pt idx="17">
                  <c:v>40</c:v>
                </c:pt>
                <c:pt idx="18">
                  <c:v>100</c:v>
                </c:pt>
                <c:pt idx="19">
                  <c:v>80</c:v>
                </c:pt>
                <c:pt idx="20">
                  <c:v>40</c:v>
                </c:pt>
                <c:pt idx="21">
                  <c:v>60</c:v>
                </c:pt>
                <c:pt idx="22">
                  <c:v>80</c:v>
                </c:pt>
                <c:pt idx="23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BA-4902-B692-A865D411DBD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A* (ours)</c:v>
                </c:pt>
              </c:strCache>
            </c:strRef>
          </c:tx>
          <c:spPr>
            <a:solidFill>
              <a:srgbClr val="B01B2E"/>
            </a:solidFill>
            <a:effectLst/>
          </c:spPr>
          <c:invertIfNegative val="0"/>
          <c:cat>
            <c:strRef>
              <c:f>Sheet1!$A$2:$A$25</c:f>
              <c:strCache>
                <c:ptCount val="2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100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3BA-4902-B692-A865D411DB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6C6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E6C68"/>
                    </a:solidFill>
                    <a:latin typeface="Arial"/>
                  </a:rPr>
                  <a:t>Level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C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6E5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6C6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E6C68"/>
                    </a:solidFill>
                    <a:latin typeface="Arial"/>
                  </a:rPr>
                  <a:t>Success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C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Greedy</c:v>
                </c:pt>
              </c:strCache>
            </c:strRef>
          </c:tx>
          <c:spPr>
            <a:ln w="25400" cap="flat">
              <a:solidFill>
                <a:srgbClr val="A6A6A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6A6A6"/>
              </a:solidFill>
              <a:ln w="9525" cap="flat">
                <a:solidFill>
                  <a:srgbClr val="A6A6A6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2.0499999999999998</c:v>
                </c:pt>
                <c:pt idx="1">
                  <c:v>3.14</c:v>
                </c:pt>
                <c:pt idx="2">
                  <c:v>4.74</c:v>
                </c:pt>
                <c:pt idx="3">
                  <c:v>4.6500000000000004</c:v>
                </c:pt>
                <c:pt idx="4">
                  <c:v>5.87</c:v>
                </c:pt>
                <c:pt idx="5">
                  <c:v>4.75</c:v>
                </c:pt>
                <c:pt idx="6">
                  <c:v>4.37</c:v>
                </c:pt>
                <c:pt idx="7">
                  <c:v>5.76</c:v>
                </c:pt>
                <c:pt idx="8">
                  <c:v>4.78</c:v>
                </c:pt>
                <c:pt idx="9">
                  <c:v>6.33</c:v>
                </c:pt>
                <c:pt idx="10">
                  <c:v>6.82</c:v>
                </c:pt>
                <c:pt idx="11">
                  <c:v>4.68</c:v>
                </c:pt>
                <c:pt idx="12">
                  <c:v>3.93</c:v>
                </c:pt>
                <c:pt idx="13">
                  <c:v>5.93</c:v>
                </c:pt>
                <c:pt idx="14">
                  <c:v>6.76</c:v>
                </c:pt>
                <c:pt idx="15">
                  <c:v>6.73</c:v>
                </c:pt>
                <c:pt idx="16">
                  <c:v>3.85</c:v>
                </c:pt>
                <c:pt idx="17">
                  <c:v>7.88</c:v>
                </c:pt>
                <c:pt idx="18">
                  <c:v>4.6500000000000004</c:v>
                </c:pt>
                <c:pt idx="19">
                  <c:v>5.88</c:v>
                </c:pt>
                <c:pt idx="20">
                  <c:v>7.16</c:v>
                </c:pt>
                <c:pt idx="21">
                  <c:v>7.49</c:v>
                </c:pt>
                <c:pt idx="22">
                  <c:v>10.09</c:v>
                </c:pt>
                <c:pt idx="23">
                  <c:v>7.88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930-4C3B-AB76-C98C0848B23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Genetic algorithm</c:v>
                </c:pt>
              </c:strCache>
            </c:strRef>
          </c:tx>
          <c:spPr>
            <a:ln w="25400" cap="flat">
              <a:solidFill>
                <a:srgbClr val="5F5E5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F5E5A"/>
              </a:solidFill>
              <a:ln w="9525" cap="flat">
                <a:solidFill>
                  <a:srgbClr val="5F5E5A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3.42</c:v>
                </c:pt>
                <c:pt idx="1">
                  <c:v>4.8899999999999997</c:v>
                </c:pt>
                <c:pt idx="2">
                  <c:v>8.6999999999999993</c:v>
                </c:pt>
                <c:pt idx="3">
                  <c:v>6.9</c:v>
                </c:pt>
                <c:pt idx="4">
                  <c:v>9.17</c:v>
                </c:pt>
                <c:pt idx="5">
                  <c:v>12.1</c:v>
                </c:pt>
                <c:pt idx="6">
                  <c:v>8.82</c:v>
                </c:pt>
                <c:pt idx="7">
                  <c:v>14.47</c:v>
                </c:pt>
                <c:pt idx="8">
                  <c:v>11.78</c:v>
                </c:pt>
                <c:pt idx="9">
                  <c:v>10.74</c:v>
                </c:pt>
                <c:pt idx="10">
                  <c:v>12.91</c:v>
                </c:pt>
                <c:pt idx="11">
                  <c:v>9.23</c:v>
                </c:pt>
                <c:pt idx="12">
                  <c:v>10.55</c:v>
                </c:pt>
                <c:pt idx="13">
                  <c:v>8.81</c:v>
                </c:pt>
                <c:pt idx="14">
                  <c:v>14.68</c:v>
                </c:pt>
                <c:pt idx="15">
                  <c:v>12.65</c:v>
                </c:pt>
                <c:pt idx="16">
                  <c:v>8.5500000000000007</c:v>
                </c:pt>
                <c:pt idx="17">
                  <c:v>15.01</c:v>
                </c:pt>
                <c:pt idx="18">
                  <c:v>14.67</c:v>
                </c:pt>
                <c:pt idx="19">
                  <c:v>18.25</c:v>
                </c:pt>
                <c:pt idx="20">
                  <c:v>16.32</c:v>
                </c:pt>
                <c:pt idx="21">
                  <c:v>24.36</c:v>
                </c:pt>
                <c:pt idx="22">
                  <c:v>15.47</c:v>
                </c:pt>
                <c:pt idx="23">
                  <c:v>21.54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930-4C3B-AB76-C98C0848B23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A* (ours)</c:v>
                </c:pt>
              </c:strCache>
            </c:strRef>
          </c:tx>
          <c:spPr>
            <a:ln w="25400" cap="flat">
              <a:solidFill>
                <a:srgbClr val="B01B2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01B2E"/>
              </a:solidFill>
              <a:ln w="9525" cap="flat">
                <a:solidFill>
                  <a:srgbClr val="B01B2E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1.92</c:v>
                </c:pt>
                <c:pt idx="1">
                  <c:v>2.69</c:v>
                </c:pt>
                <c:pt idx="2">
                  <c:v>3.36</c:v>
                </c:pt>
                <c:pt idx="3">
                  <c:v>3.47</c:v>
                </c:pt>
                <c:pt idx="4">
                  <c:v>4.2</c:v>
                </c:pt>
                <c:pt idx="5">
                  <c:v>3.69</c:v>
                </c:pt>
                <c:pt idx="6">
                  <c:v>3.79</c:v>
                </c:pt>
                <c:pt idx="7">
                  <c:v>4.33</c:v>
                </c:pt>
                <c:pt idx="8">
                  <c:v>4.12</c:v>
                </c:pt>
                <c:pt idx="9">
                  <c:v>4.9000000000000004</c:v>
                </c:pt>
                <c:pt idx="10">
                  <c:v>4.46</c:v>
                </c:pt>
                <c:pt idx="11">
                  <c:v>4.68</c:v>
                </c:pt>
                <c:pt idx="12">
                  <c:v>4.93</c:v>
                </c:pt>
                <c:pt idx="13">
                  <c:v>4.21</c:v>
                </c:pt>
                <c:pt idx="14">
                  <c:v>6.18</c:v>
                </c:pt>
                <c:pt idx="15">
                  <c:v>5.73</c:v>
                </c:pt>
                <c:pt idx="16">
                  <c:v>2.73</c:v>
                </c:pt>
                <c:pt idx="17">
                  <c:v>6.05</c:v>
                </c:pt>
                <c:pt idx="18">
                  <c:v>4</c:v>
                </c:pt>
                <c:pt idx="19">
                  <c:v>4.75</c:v>
                </c:pt>
                <c:pt idx="20">
                  <c:v>6.36</c:v>
                </c:pt>
                <c:pt idx="21">
                  <c:v>6.01</c:v>
                </c:pt>
                <c:pt idx="22">
                  <c:v>6.19</c:v>
                </c:pt>
                <c:pt idx="23">
                  <c:v>7.61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930-4C3B-AB76-C98C0848B2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6C6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E6C68"/>
                    </a:solidFill>
                    <a:latin typeface="Arial"/>
                  </a:rPr>
                  <a:t>Level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C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6E5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6C6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E6C68"/>
                    </a:solidFill>
                    <a:latin typeface="Arial"/>
                  </a:rPr>
                  <a:t>Seconds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C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831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969264"/>
            <a:ext cx="108813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6E6C6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13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Danger-Aware A* Agent for CoinTex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71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0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COMP6009 Assignment Part A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19856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6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Colombo-group-08: </a:t>
            </a:r>
            <a:r>
              <a:rPr lang="en-US" sz="1200" dirty="0">
                <a:solidFill>
                  <a:srgbClr val="6E6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Pavithra Solomons (24079123), Ravindu Chandrasekara (24100201), Rashmika Dilshan (20543909)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greedy agent plays with its eyes closed</a:t>
            </a: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96926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E6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agent in main_work_greedy.py</a:t>
            </a:r>
            <a:endParaRPr lang="en-US" sz="1300" dirty="0"/>
          </a:p>
        </p:txBody>
      </p:sp>
      <p:pic>
        <p:nvPicPr>
          <p:cNvPr id="4" name="Image 0" descr="/home/claude/partA/report/fig_greedy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08760"/>
            <a:ext cx="3638260" cy="475488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554480"/>
          <a:ext cx="6949440" cy="3401568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happens in the game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Hazards only checked when planning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Jumps between coins can go straight through a monster or fire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made once per route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Monsters keep moving for the whole route (0.4 s per coin)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 point never updated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new plan starts from (0.1, 0.1), not the character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Coin filter bug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Deletes from the list it loops over; the wrong coins get dropped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Thread never stops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a death two agents drive the next level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0" y="5394960"/>
            <a:ext cx="6949440" cy="731520"/>
          </a:xfrm>
          <a:prstGeom prst="rect">
            <a:avLst/>
          </a:prstGeom>
          <a:solidFill>
            <a:srgbClr val="FAF9F8"/>
          </a:solidFill>
          <a:ln/>
        </p:spPr>
        <p:txBody>
          <a:bodyPr wrap="square" lIns="76200" tIns="152400" rIns="152400" bIns="7620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in the </a:t>
            </a: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game: 96 of 120 runs won (80.0%), 24 deaths, 59.3% life left on average.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facts about the game shaped our design</a:t>
            </a: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96926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E6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main_work_greedy.py and cointex.kv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0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0.25 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603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6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jump, whatever the distance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0040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clear a level depends on the number of jumps, not the distance travelled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Shortening the route, which is what greedy optimises, saves no time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jumps are fine as long as nothing is in the way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0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20-35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5603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6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frames of contact before the character dies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320040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life point is lost for every frame touching a monster or fire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60 fps that is about a third to half a second of contact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agent must know when it will be near a hazard, as well as where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solidFill>
            <a:srgbClr val="FAF9F8"/>
          </a:solidFill>
          <a:ln/>
        </p:spPr>
        <p:txBody>
          <a:bodyPr wrap="square" lIns="76200" tIns="152400" rIns="152400" bIns="762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 boxes from cointex.kv: monster within 0.075 of the character's centre, fire within 0.05. Coins are collected within 0.05.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agent re-plans every jump with A*</a:t>
            </a: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96926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E6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from Lecture 3: f(n) = g(n) + h(n)</a:t>
            </a:r>
            <a:endParaRPr lang="en-US" sz="1300" dirty="0"/>
          </a:p>
        </p:txBody>
      </p:sp>
      <p:sp>
        <p:nvSpPr>
          <p:cNvPr id="4" name="step1"/>
          <p:cNvSpPr/>
          <p:nvPr/>
        </p:nvSpPr>
        <p:spPr>
          <a:xfrm>
            <a:off x="640080" y="1600200"/>
            <a:ext cx="19385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Sense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19385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of the character, coins, monsters and fires; hazard speeds from the last snapshot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624328" y="1883664"/>
            <a:ext cx="210312" cy="0"/>
          </a:xfrm>
          <a:prstGeom prst="line">
            <a:avLst/>
          </a:prstGeom>
          <a:noFill/>
          <a:ln w="19050">
            <a:solidFill>
              <a:srgbClr val="6E6C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step2"/>
          <p:cNvSpPr/>
          <p:nvPr/>
        </p:nvSpPr>
        <p:spPr>
          <a:xfrm>
            <a:off x="2880360" y="1600200"/>
            <a:ext cx="19385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2880360" y="1600200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Predict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2286000"/>
            <a:ext cx="19385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Monsters keep their speed, with a margin that grows with time; fires bounce along their path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64608" y="1883664"/>
            <a:ext cx="210312" cy="0"/>
          </a:xfrm>
          <a:prstGeom prst="line">
            <a:avLst/>
          </a:prstGeom>
          <a:noFill/>
          <a:ln w="19050">
            <a:solidFill>
              <a:srgbClr val="6E6C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tep3"/>
          <p:cNvSpPr/>
          <p:nvPr/>
        </p:nvSpPr>
        <p:spPr>
          <a:xfrm>
            <a:off x="5120640" y="1600200"/>
            <a:ext cx="19385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5120640" y="1600200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Danger map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286000"/>
            <a:ext cx="19385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× 40 grid over the screen: very costly inside a predicted hit box, less so nearby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104888" y="1883664"/>
            <a:ext cx="210312" cy="0"/>
          </a:xfrm>
          <a:prstGeom prst="line">
            <a:avLst/>
          </a:prstGeom>
          <a:noFill/>
          <a:ln w="19050">
            <a:solidFill>
              <a:srgbClr val="6E6C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tep4"/>
          <p:cNvSpPr/>
          <p:nvPr/>
        </p:nvSpPr>
        <p:spPr>
          <a:xfrm>
            <a:off x="7360920" y="1600200"/>
            <a:ext cx="1938528" cy="566928"/>
          </a:xfrm>
          <a:prstGeom prst="roundRect">
            <a:avLst>
              <a:gd name="adj" fmla="val 12903"/>
            </a:avLst>
          </a:prstGeom>
          <a:solidFill>
            <a:srgbClr val="B01B2E"/>
          </a:solidFill>
          <a:ln w="15875">
            <a:solidFill>
              <a:srgbClr val="B01B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7360920" y="1600200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A* search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2286000"/>
            <a:ext cx="19385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Cheapest path to any coin; step cost = length × (1 + 8 × danger)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345168" y="1883664"/>
            <a:ext cx="210312" cy="0"/>
          </a:xfrm>
          <a:prstGeom prst="line">
            <a:avLst/>
          </a:prstGeom>
          <a:noFill/>
          <a:ln w="19050">
            <a:solidFill>
              <a:srgbClr val="6E6C6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step5"/>
          <p:cNvSpPr/>
          <p:nvPr/>
        </p:nvSpPr>
        <p:spPr>
          <a:xfrm>
            <a:off x="9601200" y="1600200"/>
            <a:ext cx="19385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9601200" y="1600200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Safe jump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0" y="2286000"/>
            <a:ext cx="19385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Longest straight jump that is clear at the moment the character passes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703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the jump in step 5</a:t>
            </a:r>
            <a:endParaRPr lang="en-US" sz="1500" dirty="0"/>
          </a:p>
        </p:txBody>
      </p:sp>
      <p:sp>
        <p:nvSpPr>
          <p:cNvPr id="24" name="outcome1"/>
          <p:cNvSpPr/>
          <p:nvPr/>
        </p:nvSpPr>
        <p:spPr>
          <a:xfrm>
            <a:off x="640080" y="4160520"/>
            <a:ext cx="3493008" cy="1234440"/>
          </a:xfrm>
          <a:prstGeom prst="roundRect">
            <a:avLst>
              <a:gd name="adj" fmla="val 5926"/>
            </a:avLst>
          </a:prstGeom>
          <a:solidFill>
            <a:srgbClr val="FAF9F8"/>
          </a:solidFill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777240" y="4251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 reachable safely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6177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 straight to the coin</a:t>
            </a:r>
            <a:endParaRPr lang="en-US" sz="1400" dirty="0"/>
          </a:p>
        </p:txBody>
      </p:sp>
      <p:sp>
        <p:nvSpPr>
          <p:cNvPr id="27" name="outcome2"/>
          <p:cNvSpPr/>
          <p:nvPr/>
        </p:nvSpPr>
        <p:spPr>
          <a:xfrm>
            <a:off x="4315968" y="4160520"/>
            <a:ext cx="3493008" cy="1234440"/>
          </a:xfrm>
          <a:prstGeom prst="roundRect">
            <a:avLst>
              <a:gd name="adj" fmla="val 5926"/>
            </a:avLst>
          </a:prstGeom>
          <a:solidFill>
            <a:srgbClr val="FAF9F8"/>
          </a:solidFill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4453128" y="4251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 not safe, path is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453128" y="46177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 to the farthest safe point on the A* path</a:t>
            </a:r>
            <a:endParaRPr lang="en-US" sz="1400" dirty="0"/>
          </a:p>
        </p:txBody>
      </p:sp>
      <p:sp>
        <p:nvSpPr>
          <p:cNvPr id="30" name="outcome3"/>
          <p:cNvSpPr/>
          <p:nvPr/>
        </p:nvSpPr>
        <p:spPr>
          <a:xfrm>
            <a:off x="7991856" y="4160520"/>
            <a:ext cx="3493008" cy="1234440"/>
          </a:xfrm>
          <a:prstGeom prst="roundRect">
            <a:avLst>
              <a:gd name="adj" fmla="val 5926"/>
            </a:avLst>
          </a:prstGeom>
          <a:solidFill>
            <a:srgbClr val="FAF9F8"/>
          </a:solidFill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8129016" y="4251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safe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129016" y="46177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Escape to the nearby point (or stay) with the most clearance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6235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6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every 0.25 s, from wherever the character actually is, until no coins are left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danger gets into the search</a:t>
            </a: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96926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E6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22 danger map</a:t>
            </a:r>
            <a:endParaRPr lang="en-US" sz="1300" dirty="0"/>
          </a:p>
        </p:txBody>
      </p:sp>
      <p:pic>
        <p:nvPicPr>
          <p:cNvPr id="4" name="Image 0" descr="/home/claude/partA/report/fig_danger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6189785" cy="5029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040880" y="1600200"/>
            <a:ext cx="44805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red cells are where a hazard is predicted to be at some point in the next 0.6 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goes around them (blue line)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chosen jump (black arrow) cuts the corner: each point on the line is checked against where the hazards will be at the moment the character passes, not where they are now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nothing is safe, the agent tries 64 nearby points and staying still, and takes the one with most clearance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new compared with the greedy agent</a:t>
            </a: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96926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E6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agent vs A* agent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Original greedy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A* agent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Choosing a coin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Nearest by Manhattan distance, whole route fixed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Cheapest path once danger is counted, chosen again every jump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Monsters and fires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skip coins within 0.3 when planning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Predicted 0.6 s ahead and built into every cell's cost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Straight jumps with no checks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jumps that are clear when the character passes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Re-planning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the whole route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0.25 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starts from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Always (0.1, 0.1)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character's real position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danger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reaction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Escape move with the most clearance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Nearest-neighbour heuristic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Multi-goal A* with a guess that never overestimates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486400"/>
            <a:ext cx="10881360" cy="594360"/>
          </a:xfrm>
          <a:prstGeom prst="rect">
            <a:avLst/>
          </a:prstGeom>
          <a:solidFill>
            <a:srgbClr val="FAF9F8"/>
          </a:solidFill>
          <a:ln/>
        </p:spPr>
        <p:txBody>
          <a:bodyPr wrap="square" lIns="76200" tIns="152400" rIns="152400" bIns="762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keep the test fair, the greedy logic is copied unchanged and every agent moves through the game's own start_char_animation.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360 games in the real game</a:t>
            </a: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96926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E6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agents × 24 levels × 5 runs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0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120/120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317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6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 won by A*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1508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E6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96/120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23317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6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 won by greedy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1508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E6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99/120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23317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6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 won by the GA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63240"/>
          <a:ext cx="10881360" cy="91440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A* (ours)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Levels completed (3+ wins of 5)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 / 24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 / 24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/ 24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time to collect all coins, 24 levels (s)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12.25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 left (%)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59.3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57.2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Deaths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RACR: coins per second × life left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640080" y="5577840"/>
            <a:ext cx="10881360" cy="594360"/>
          </a:xfrm>
          <a:prstGeom prst="rect">
            <a:avLst/>
          </a:prstGeom>
          <a:solidFill>
            <a:srgbClr val="FAF9F8"/>
          </a:solidFill>
          <a:ln/>
        </p:spPr>
        <p:txBody>
          <a:bodyPr wrap="square" lIns="76200" tIns="152400" rIns="152400" bIns="762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RACR is our extra metric: it rewards being fast and unhurt in one number, and still gives credit for coins collected before a death.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by level</a:t>
            </a: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96926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E6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rate by level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417320"/>
          <a:ext cx="108813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212080"/>
            <a:ext cx="10881360" cy="914400"/>
          </a:xfrm>
          <a:prstGeom prst="rect">
            <a:avLst/>
          </a:prstGeom>
          <a:solidFill>
            <a:srgbClr val="FAF9F8"/>
          </a:solidFill>
          <a:ln/>
        </p:spPr>
        <p:txBody>
          <a:bodyPr wrap="square" lIns="76200" tIns="152400" rIns="152400" bIns="762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did worst on levels 18, 23 and 24 and the GA on levels 18, 21 and 24. All their losses were deaths. A* won 120 of 120 games.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as well as safer</a:t>
            </a: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96926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E6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completion time by level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41732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955280" y="1600200"/>
            <a:ext cx="3566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averaged 4.60 s over all 24 levels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5.67 s, GA 12.25 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was faster than greedy on 22 of 24 levels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of this is rhythm: A* moves every 0.25 s, the original greedy waits 0.4 s per jump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and what we would do next</a:t>
            </a: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96926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E6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Proposed, not implemented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should help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Hybrid GA + A*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 evolves the order of the coins (a permutation); A* plans each safe leg and its path costs become the GA's fitness. Fixes stranded coins on 18-25 coin levels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 to tune A*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danger weight, margins and look-ahead were set by hand; a GA could search them per level type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Markov model of monsters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Lecture 8: a belief over where each monster is heading, updated every frame, gives hit probabilities per cell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Expectimax look-ahead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Lecture 6: monsters are random, not adversaries, so plan for the average case over the next few jumps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120640"/>
            <a:ext cx="10881360" cy="822960"/>
          </a:xfrm>
          <a:prstGeom prst="rect">
            <a:avLst/>
          </a:prstGeom>
          <a:solidFill>
            <a:srgbClr val="FAF9F8"/>
          </a:solidFill>
          <a:ln/>
        </p:spPr>
        <p:txBody>
          <a:bodyPr wrap="square" lIns="76200" tIns="152400" rIns="152400" bIns="762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Limitations: one laptop, 5 runs per level (a level's rate moves in 20% steps), A* settings tuned in our simulator, and the GA is the tutorial GA, not one tuned for this game.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1137</Words>
  <Application>Microsoft Office PowerPoint</Application>
  <PresentationFormat>Widescreen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The greedy agent plays with its eyes closed</vt:lpstr>
      <vt:lpstr>Two facts about the game shaped our design</vt:lpstr>
      <vt:lpstr>Our agent re-plans every jump with A*</vt:lpstr>
      <vt:lpstr>How danger gets into the search</vt:lpstr>
      <vt:lpstr>What is new compared with the greedy agent</vt:lpstr>
      <vt:lpstr>Results: 360 games in the real game</vt:lpstr>
      <vt:lpstr>Level by level</vt:lpstr>
      <vt:lpstr>Faster as well as safer</vt:lpstr>
      <vt:lpstr>Limitations and what we would do next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COMP6009 Assignment Part A</dc:title>
  <dc:subject>PptxGenJS Presentation</dc:subject>
  <dc:creator>Pavithra Solomons</dc:creator>
  <cp:lastModifiedBy>Pavithra Solomons</cp:lastModifiedBy>
  <cp:revision>2</cp:revision>
  <dcterms:created xsi:type="dcterms:W3CDTF">2026-10-21T18:07:33Z</dcterms:created>
  <dcterms:modified xsi:type="dcterms:W3CDTF">2026-10-23T13:24:38Z</dcterms:modified>
</cp:coreProperties>
</file>